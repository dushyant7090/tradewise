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4" r:id="rId9"/>
    <p:sldId id="272" r:id="rId10"/>
    <p:sldId id="273" r:id="rId11"/>
    <p:sldId id="274" r:id="rId12"/>
    <p:sldId id="271" r:id="rId13"/>
    <p:sldId id="267" r:id="rId14"/>
    <p:sldId id="269" r:id="rId15"/>
    <p:sldId id="268" r:id="rId16"/>
    <p:sldId id="266" r:id="rId17"/>
    <p:sldId id="270"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150" autoAdjust="0"/>
  </p:normalViewPr>
  <p:slideViewPr>
    <p:cSldViewPr snapToGrid="0" snapToObjects="1">
      <p:cViewPr varScale="1">
        <p:scale>
          <a:sx n="98" d="100"/>
          <a:sy n="98" d="100"/>
        </p:scale>
        <p:origin x="82"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E07FC-5806-4573-B4B0-646C6D8F6190}" type="datetimeFigureOut">
              <a:rPr lang="en-IN" smtClean="0"/>
              <a:t>30-04-2026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EB4E9C-7A5E-4890-84E9-6EF652AB44CF}" type="slidenum">
              <a:rPr lang="en-IN" smtClean="0"/>
              <a:t>‹#›</a:t>
            </a:fld>
            <a:endParaRPr lang="en-IN"/>
          </a:p>
        </p:txBody>
      </p:sp>
    </p:spTree>
    <p:extLst>
      <p:ext uri="{BB962C8B-B14F-4D97-AF65-F5344CB8AC3E}">
        <p14:creationId xmlns:p14="http://schemas.microsoft.com/office/powerpoint/2010/main" val="23695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Dushyant, and today I'm going to present my final year project titled — </a:t>
            </a:r>
            <a:r>
              <a:rPr lang="en-US" dirty="0" err="1"/>
              <a:t>TradeWise</a:t>
            </a:r>
            <a:r>
              <a:rPr lang="en-US" dirty="0"/>
              <a:t>. </a:t>
            </a:r>
          </a:p>
          <a:p>
            <a:endParaRPr lang="en-US" dirty="0"/>
          </a:p>
          <a:p>
            <a:r>
              <a:rPr lang="en-US" dirty="0" err="1"/>
              <a:t>TradeWise</a:t>
            </a:r>
            <a:r>
              <a:rPr lang="en-US" dirty="0"/>
              <a:t> is a Verified Trading Idea Sharing and Learning Platform built specifically for Indian Equity Markets — that is, NSE and BSE. </a:t>
            </a:r>
          </a:p>
          <a:p>
            <a:endParaRPr lang="en-US" dirty="0"/>
          </a:p>
          <a:p>
            <a:r>
              <a:rPr lang="en-US" dirty="0"/>
              <a:t>The tagline of this project is — "Verified Trading, Not Guesswork" — and this line captures the entire essence of what we're trying to solve. Before I show you how </a:t>
            </a:r>
            <a:r>
              <a:rPr lang="en-US" dirty="0" err="1"/>
              <a:t>TradeWise</a:t>
            </a:r>
            <a:r>
              <a:rPr lang="en-US" dirty="0"/>
              <a:t> works, let me first explain why this project was needed in the first place.</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1</a:t>
            </a:fld>
            <a:endParaRPr lang="en-IN"/>
          </a:p>
        </p:txBody>
      </p:sp>
    </p:spTree>
    <p:extLst>
      <p:ext uri="{BB962C8B-B14F-4D97-AF65-F5344CB8AC3E}">
        <p14:creationId xmlns:p14="http://schemas.microsoft.com/office/powerpoint/2010/main" val="631759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some context — India has seen a massive boom in stock market participation in the last few years. The number of demat accounts has grown from around 4 crore in 2020 to over 15 crore by 2025. That means crores of new, mostly young, retail traders have entered the market. Now, where do these new traders go to learn? Telegram groups. WhatsApp groups. YouTube channels. These platforms have become the primary source of trading tips and signals. But here is the problem — most of these so-called "tips" are unverified. There is no proof behind them. No chart analysis, no stop loss, no accountability. Somebody just says "Buy RELIANCE at 2500" and people blindly follow. When the trade fails, nobody takes responsibility. The tip-giver moves on to the next signal, and the beginner loses their hard-earned money. This is the gap that </a:t>
            </a:r>
            <a:r>
              <a:rPr lang="en-US" dirty="0" err="1"/>
              <a:t>TradeWise</a:t>
            </a:r>
            <a:r>
              <a:rPr lang="en-US" dirty="0"/>
              <a:t> addresses — the need for a transparent, proof-based platform where every trade idea is backed by proper analysis and every trader's performance is tracked automatically.</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2</a:t>
            </a:fld>
            <a:endParaRPr lang="en-IN"/>
          </a:p>
        </p:txBody>
      </p:sp>
    </p:spTree>
    <p:extLst>
      <p:ext uri="{BB962C8B-B14F-4D97-AF65-F5344CB8AC3E}">
        <p14:creationId xmlns:p14="http://schemas.microsoft.com/office/powerpoint/2010/main" val="2323206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clearly define the problems we are solving. First — the current "signal culture." Thousands of Telegram and WhatsApp groups share random buy/sell signals with zero proof or technical rationale. There's no chart, no entry price justification, nothing. Second — there is absolutely no validation. Nobody checks whether a trade actually hit its target or stop loss. The tip-giver can claim 90% accuracy without any data to back it up. Third — there is no accountability. If a learner loses money following a tip, there is no record, no complaint system, no way to flag the trader. Fourth — beginners are the most affected. They don't have the experience to judge the quality of a signal, so they depend entirely on blind trust. And finally — there is no standardized system in the market to measure a trader's actual performance. No accuracy score, no win rate, no verifiable track record. This is what </a:t>
            </a:r>
            <a:r>
              <a:rPr lang="en-US" dirty="0" err="1"/>
              <a:t>TradeWise</a:t>
            </a:r>
            <a:r>
              <a:rPr lang="en-US" dirty="0"/>
              <a:t> solves. It brings structure, transparency, and accountability to trading idea sharing.</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3</a:t>
            </a:fld>
            <a:endParaRPr lang="en-IN"/>
          </a:p>
        </p:txBody>
      </p:sp>
    </p:spTree>
    <p:extLst>
      <p:ext uri="{BB962C8B-B14F-4D97-AF65-F5344CB8AC3E}">
        <p14:creationId xmlns:p14="http://schemas.microsoft.com/office/powerpoint/2010/main" val="1226947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the objectives of </a:t>
            </a:r>
            <a:r>
              <a:rPr lang="en-US" dirty="0" err="1"/>
              <a:t>TradeWise</a:t>
            </a:r>
            <a:r>
              <a:rPr lang="en-US" dirty="0"/>
              <a:t>? Let me walk you through them. Objective one — Build a verified trading idea platform where every trade must follow a structured format. Objective two — Enforce mandatory fields in every trade submission. This includes — Symbol, Entry Price, Stop Loss, Target Price, Risk-Reward Ratio, a Chart Image, and a Technical Rationale of at least 50 words. No more lazy, one-line tips. Objective three — Implement what we call the Accuracy Engine. This is the core innovation of </a:t>
            </a:r>
            <a:r>
              <a:rPr lang="en-US" dirty="0" err="1"/>
              <a:t>TradeWise</a:t>
            </a:r>
            <a:r>
              <a:rPr lang="en-US" dirty="0"/>
              <a:t>. It automatically tracks whether a trade hits its Target or Stop Loss, and updates the trader's accuracy score accordingly. Objective four — Promote learning over guessing. Learners don't just see "Buy this stock." They see the full analysis — why the trader is recommending it, where the risk is, and what the expected reward is. And objective five — Create data-driven trader credibility. Every Pro Trader on the platform has a verifiable track record — accuracy percentage, win rate, total trades, Risk-Reward Ratios — all calculated from real data.</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4</a:t>
            </a:fld>
            <a:endParaRPr lang="en-IN"/>
          </a:p>
        </p:txBody>
      </p:sp>
    </p:spTree>
    <p:extLst>
      <p:ext uri="{BB962C8B-B14F-4D97-AF65-F5344CB8AC3E}">
        <p14:creationId xmlns:p14="http://schemas.microsoft.com/office/powerpoint/2010/main" val="3039397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explain how </a:t>
            </a:r>
            <a:r>
              <a:rPr lang="en-US" dirty="0" err="1"/>
              <a:t>TradeWise</a:t>
            </a:r>
            <a:r>
              <a:rPr lang="en-US" dirty="0"/>
              <a:t> is structured. The platform has three user roles: Learner — or Public Trader. </a:t>
            </a:r>
          </a:p>
          <a:p>
            <a:r>
              <a:rPr lang="en-US" dirty="0"/>
              <a:t>This is someone who wants to learn trading. They can browse trade ideas, unlock detailed analysis using credits, rate trades, and subscribe to Pro Traders they trust. Pro-Trader — or Mentor. </a:t>
            </a:r>
          </a:p>
          <a:p>
            <a:r>
              <a:rPr lang="en-US" dirty="0"/>
              <a:t>This is an experienced trader who posts trade ideas with full technical analysis. They go through KYC verification before they can start posting, and their performance is tracked automatically. Admin — The platform administrator who moderates the system. They verify KYC documents, review flagged trades, manage user accounts, and approve payout requests. </a:t>
            </a:r>
          </a:p>
          <a:p>
            <a:endParaRPr lang="en-US" dirty="0"/>
          </a:p>
          <a:p>
            <a:r>
              <a:rPr lang="en-US" dirty="0"/>
              <a:t>Now, the core workflow is simple and works in five steps: </a:t>
            </a:r>
          </a:p>
          <a:p>
            <a:r>
              <a:rPr lang="en-US" dirty="0"/>
              <a:t>Step 1 — A Pro-Trader submits a trade by filling out a structured form with all mandatory fields. </a:t>
            </a:r>
          </a:p>
          <a:p>
            <a:r>
              <a:rPr lang="en-US" dirty="0"/>
              <a:t>Step 2 — The system validates the data — checks if all required fields are present and the rationale meets the minimum word count. </a:t>
            </a:r>
          </a:p>
          <a:p>
            <a:r>
              <a:rPr lang="en-US" dirty="0"/>
              <a:t>Step 3 — The Accuracy Engine monitors the market price against the entry, stop loss, and target. </a:t>
            </a:r>
          </a:p>
          <a:p>
            <a:r>
              <a:rPr lang="en-US" dirty="0"/>
              <a:t>Step 4 — When the price hits either the Target or Stop Loss, the result is automatically detected. </a:t>
            </a:r>
          </a:p>
          <a:p>
            <a:r>
              <a:rPr lang="en-US" dirty="0"/>
              <a:t>Step 5 — The trader's accuracy score, win rate, and performance metrics are updated in real-time. </a:t>
            </a:r>
          </a:p>
          <a:p>
            <a:endParaRPr lang="en-US" dirty="0"/>
          </a:p>
          <a:p>
            <a:r>
              <a:rPr lang="en-US" dirty="0"/>
              <a:t>This entire cycle happens without any manual intervention.</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5</a:t>
            </a:fld>
            <a:endParaRPr lang="en-IN"/>
          </a:p>
        </p:txBody>
      </p:sp>
    </p:spTree>
    <p:extLst>
      <p:ext uri="{BB962C8B-B14F-4D97-AF65-F5344CB8AC3E}">
        <p14:creationId xmlns:p14="http://schemas.microsoft.com/office/powerpoint/2010/main" val="1492116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highlight the six key features that differentiate </a:t>
            </a:r>
            <a:r>
              <a:rPr lang="en-US" dirty="0" err="1"/>
              <a:t>TradeWise</a:t>
            </a:r>
            <a:r>
              <a:rPr lang="en-US" dirty="0"/>
              <a:t> from any other trading platform. </a:t>
            </a:r>
          </a:p>
          <a:p>
            <a:endParaRPr lang="en-US" dirty="0"/>
          </a:p>
          <a:p>
            <a:r>
              <a:rPr lang="en-US" dirty="0"/>
              <a:t>Feature 1 — Structured Trade Posting. Every trade must include: Symbol, Direction (Buy/Sell), Entry Price, Stop Loss, Target Price, a Chart Image, and a Technical Rationale of minimum 50 words. This eliminates low-effort, vague tips. </a:t>
            </a:r>
          </a:p>
          <a:p>
            <a:r>
              <a:rPr lang="en-US" dirty="0"/>
              <a:t>Feature 2 — The Accuracy Engine. This is the flagship feature. It automatically tracks whether a trade hits its target or stop loss. The formula is simple: Accuracy Score = (Winning Trades / Total Closed Trades) × 100. If a trade gets flagged more than 10 times by learners, an additional 5% penalty is applied. </a:t>
            </a:r>
          </a:p>
          <a:p>
            <a:r>
              <a:rPr lang="en-US" dirty="0"/>
              <a:t>Feature 3 — Risk-Reward Ratio or RRR. For every trade, the system auto-calculates the RRR based on entry, stop loss, and target. This helps learners understand the risk before they invest. Feature 4 — Performance Analytics Dashboard. Both Pro-Traders and Learners get visual dashboards showing Win Rate, Accuracy charts, monthly performance trends, and detailed trade history. Feature 5 — Admin Moderation. The admin has a complete control panel for KYC verification, reviewing flagged trades, managing users (suspend/reactivate), and approving payout requests. Feature 6 — Credit and Subscription Model. Every new learner gets 7 free credits on signup. Each credit unlocks one trade. Once credits run out, they can subscribe to a specific Pro-Trader for unlimited access. </a:t>
            </a:r>
          </a:p>
          <a:p>
            <a:r>
              <a:rPr lang="en-US" dirty="0"/>
              <a:t>The revenue is split 90% to the Pro-Trader and 10% to the platform.</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6</a:t>
            </a:fld>
            <a:endParaRPr lang="en-IN"/>
          </a:p>
        </p:txBody>
      </p:sp>
    </p:spTree>
    <p:extLst>
      <p:ext uri="{BB962C8B-B14F-4D97-AF65-F5344CB8AC3E}">
        <p14:creationId xmlns:p14="http://schemas.microsoft.com/office/powerpoint/2010/main" val="1433406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technology behind </a:t>
            </a:r>
            <a:r>
              <a:rPr lang="en-US" dirty="0" err="1"/>
              <a:t>TradeWise</a:t>
            </a:r>
            <a:r>
              <a:rPr lang="en-US" dirty="0"/>
              <a:t>. </a:t>
            </a:r>
          </a:p>
          <a:p>
            <a:endParaRPr lang="en-US" dirty="0"/>
          </a:p>
          <a:p>
            <a:r>
              <a:rPr lang="en-US" dirty="0"/>
              <a:t>For the Frontend, we used HTML, CSS, and Vanilla JavaScript. There are separate interfaces for Learner, Pro-Trader, and Admin dashboards. </a:t>
            </a:r>
          </a:p>
          <a:p>
            <a:r>
              <a:rPr lang="en-US" dirty="0"/>
              <a:t>No heavy framework was needed since the frontend is purely static and served directly. </a:t>
            </a:r>
          </a:p>
          <a:p>
            <a:endParaRPr lang="en-US" dirty="0"/>
          </a:p>
          <a:p>
            <a:r>
              <a:rPr lang="en-US" dirty="0"/>
              <a:t>The Backend is built using Flask — a Python web framework. Flask handles all the REST API endpoints, JWT-based authentication, role-based access control, and business logic. </a:t>
            </a:r>
          </a:p>
          <a:p>
            <a:endParaRPr lang="en-US" dirty="0"/>
          </a:p>
          <a:p>
            <a:r>
              <a:rPr lang="en-US" dirty="0"/>
              <a:t>For the Database, we used PostgreSQL hosted on </a:t>
            </a:r>
            <a:r>
              <a:rPr lang="en-US" dirty="0" err="1"/>
              <a:t>Supabase</a:t>
            </a:r>
            <a:r>
              <a:rPr lang="en-US" dirty="0"/>
              <a:t>, with 22 tables covering users, profiles, trades, payments, subscriptions, notifications, and audit logs. All tables have Row Level Security (RLS) enabled. </a:t>
            </a:r>
          </a:p>
          <a:p>
            <a:endParaRPr lang="en-US" dirty="0"/>
          </a:p>
          <a:p>
            <a:r>
              <a:rPr lang="en-US" dirty="0"/>
              <a:t>File Storage is handled through </a:t>
            </a:r>
            <a:r>
              <a:rPr lang="en-US" dirty="0" err="1"/>
              <a:t>Supabase</a:t>
            </a:r>
            <a:r>
              <a:rPr lang="en-US" dirty="0"/>
              <a:t> Storage — profile pictures and chart images are stored publicly, while KYC documents are stored privately and accessible only through authenticated admin endpoints. </a:t>
            </a:r>
          </a:p>
          <a:p>
            <a:endParaRPr lang="en-US" dirty="0"/>
          </a:p>
          <a:p>
            <a:r>
              <a:rPr lang="en-US" dirty="0"/>
              <a:t>Authentication uses JWT tokens with </a:t>
            </a:r>
            <a:r>
              <a:rPr lang="en-US" dirty="0" err="1"/>
              <a:t>bcrypt</a:t>
            </a:r>
            <a:r>
              <a:rPr lang="en-US" dirty="0"/>
              <a:t> for password hashing, and there's optional TOTP-based two-factor authentication for enhanced security. </a:t>
            </a:r>
          </a:p>
          <a:p>
            <a:endParaRPr lang="en-US" dirty="0"/>
          </a:p>
          <a:p>
            <a:r>
              <a:rPr lang="en-US" dirty="0"/>
              <a:t>For Payments, we integrated </a:t>
            </a:r>
            <a:r>
              <a:rPr lang="en-US" dirty="0" err="1"/>
              <a:t>Cashfree</a:t>
            </a:r>
            <a:r>
              <a:rPr lang="en-US" dirty="0"/>
              <a:t> in sandbox/test mode for subscription payments and Pro-Trader payout processing.</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7</a:t>
            </a:fld>
            <a:endParaRPr lang="en-IN"/>
          </a:p>
        </p:txBody>
      </p:sp>
    </p:spTree>
    <p:extLst>
      <p:ext uri="{BB962C8B-B14F-4D97-AF65-F5344CB8AC3E}">
        <p14:creationId xmlns:p14="http://schemas.microsoft.com/office/powerpoint/2010/main" val="4143233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real-world impact does </a:t>
            </a:r>
            <a:r>
              <a:rPr lang="en-US" dirty="0" err="1"/>
              <a:t>TradeWise</a:t>
            </a:r>
            <a:r>
              <a:rPr lang="en-US" dirty="0"/>
              <a:t> create? </a:t>
            </a:r>
          </a:p>
          <a:p>
            <a:endParaRPr lang="en-US" dirty="0"/>
          </a:p>
          <a:p>
            <a:r>
              <a:rPr lang="en-US" dirty="0"/>
              <a:t>First — It eliminates fake trading signals. Since every trade must include a chart, rationale, and specific prices, low-effort tips simply cannot exist on this platform. </a:t>
            </a:r>
          </a:p>
          <a:p>
            <a:endParaRPr lang="en-US" dirty="0"/>
          </a:p>
          <a:p>
            <a:r>
              <a:rPr lang="en-US" dirty="0"/>
              <a:t>Second — It builds trust through verified data. You don't have to take a trader's word for it — their accuracy score, win rate, and entire history are publicly visible and automatically calculated. </a:t>
            </a:r>
          </a:p>
          <a:p>
            <a:endParaRPr lang="en-US" dirty="0"/>
          </a:p>
          <a:p>
            <a:r>
              <a:rPr lang="en-US" dirty="0"/>
              <a:t>Third — It helps beginners learn properly. Instead of following blind tips, learners can see the full technical analysis — entry reasoning, stop loss placement, target justification, and chart patterns. </a:t>
            </a:r>
          </a:p>
          <a:p>
            <a:endParaRPr lang="en-US" dirty="0"/>
          </a:p>
          <a:p>
            <a:r>
              <a:rPr lang="en-US" dirty="0"/>
              <a:t>Fourth — It encourages responsible trading. By making Stop Loss and Target mandatory, the platform ensures that every trade idea has a defined risk-reward structure. </a:t>
            </a:r>
          </a:p>
          <a:p>
            <a:endParaRPr lang="en-US" dirty="0"/>
          </a:p>
          <a:p>
            <a:r>
              <a:rPr lang="en-US" dirty="0"/>
              <a:t>Fifth — It creates a transparent ranking system based on actual results. Top traders rise based on real performance, not marketing or follower count. </a:t>
            </a:r>
          </a:p>
          <a:p>
            <a:endParaRPr lang="en-US" dirty="0"/>
          </a:p>
          <a:p>
            <a:r>
              <a:rPr lang="en-US" dirty="0"/>
              <a:t>And finally — The revenue model supports quality mentors. Pro-Traders earn 90% of subscription revenue, incentivizing them to maintain high accuracy and post quality analysis.</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8</a:t>
            </a:fld>
            <a:endParaRPr lang="en-IN"/>
          </a:p>
        </p:txBody>
      </p:sp>
    </p:spTree>
    <p:extLst>
      <p:ext uri="{BB962C8B-B14F-4D97-AF65-F5344CB8AC3E}">
        <p14:creationId xmlns:p14="http://schemas.microsoft.com/office/powerpoint/2010/main" val="2870717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conclude. </a:t>
            </a:r>
            <a:r>
              <a:rPr lang="en-US" dirty="0" err="1"/>
              <a:t>TradeWise</a:t>
            </a:r>
            <a:r>
              <a:rPr lang="en-US" dirty="0"/>
              <a:t> addresses a real and growing problem in India's trading ecosystem — the spread of unverified, unaccountable trading tips that cause financial harm to beginners. </a:t>
            </a:r>
          </a:p>
          <a:p>
            <a:r>
              <a:rPr lang="en-US" dirty="0"/>
              <a:t>Our solution brings transparency — through structured trade submissions. </a:t>
            </a:r>
          </a:p>
          <a:p>
            <a:r>
              <a:rPr lang="en-US" dirty="0"/>
              <a:t>It brings accountability — through the Accuracy Engine that automatically tracks results. And it brings learning — by giving beginners access to real, verified technical analysis from proven traders. </a:t>
            </a:r>
          </a:p>
          <a:p>
            <a:endParaRPr lang="en-US" dirty="0"/>
          </a:p>
          <a:p>
            <a:r>
              <a:rPr lang="en-US" dirty="0"/>
              <a:t>The platform bridges the trust gap between experienced traders and new learners, creating a healthier and more responsible trading community. </a:t>
            </a:r>
          </a:p>
          <a:p>
            <a:endParaRPr lang="en-US" dirty="0"/>
          </a:p>
          <a:p>
            <a:r>
              <a:rPr lang="en-US" dirty="0"/>
              <a:t>Now, looking at future scope — </a:t>
            </a:r>
          </a:p>
          <a:p>
            <a:r>
              <a:rPr lang="en-US" dirty="0"/>
              <a:t>there are several exciting directions: </a:t>
            </a:r>
          </a:p>
          <a:p>
            <a:endParaRPr lang="en-US" dirty="0"/>
          </a:p>
          <a:p>
            <a:r>
              <a:rPr lang="en-US" dirty="0"/>
              <a:t>First — AI-based trade validation, where machine learning models can help verify chart patterns and flag potentially misleading analysis. </a:t>
            </a:r>
          </a:p>
          <a:p>
            <a:endParaRPr lang="en-US" dirty="0"/>
          </a:p>
          <a:p>
            <a:r>
              <a:rPr lang="en-US" dirty="0"/>
              <a:t>Second — A mobile application for Android and iOS, which would make the platform accessible to a much wider audience. </a:t>
            </a:r>
          </a:p>
          <a:p>
            <a:endParaRPr lang="en-US" dirty="0"/>
          </a:p>
          <a:p>
            <a:r>
              <a:rPr lang="en-US" dirty="0"/>
              <a:t>Third — Real-time price alerts and push notifications, so learners are immediately notified when a subscribed trader posts a new idea or when a trade hits its target. </a:t>
            </a:r>
          </a:p>
          <a:p>
            <a:endParaRPr lang="en-US" dirty="0"/>
          </a:p>
          <a:p>
            <a:r>
              <a:rPr lang="en-US" dirty="0"/>
              <a:t>Fourth — Advanced analytics with ML-powered insights — trend predictions, sector performance heatmaps, and personalized trade recommendations. </a:t>
            </a:r>
          </a:p>
          <a:p>
            <a:endParaRPr lang="en-US" dirty="0"/>
          </a:p>
          <a:p>
            <a:r>
              <a:rPr lang="en-US" dirty="0"/>
              <a:t>And fifth — Multi-market support — extending beyond NSE/BSE to cover cryptocurrency, commodities, and forex markets. That concludes my presentation. Thank you! I'm happy to take any questions.</a:t>
            </a:r>
            <a:endParaRPr lang="en-IN" dirty="0"/>
          </a:p>
        </p:txBody>
      </p:sp>
      <p:sp>
        <p:nvSpPr>
          <p:cNvPr id="4" name="Slide Number Placeholder 3"/>
          <p:cNvSpPr>
            <a:spLocks noGrp="1"/>
          </p:cNvSpPr>
          <p:nvPr>
            <p:ph type="sldNum" sz="quarter" idx="5"/>
          </p:nvPr>
        </p:nvSpPr>
        <p:spPr/>
        <p:txBody>
          <a:bodyPr/>
          <a:lstStyle/>
          <a:p>
            <a:fld id="{7CEB4E9C-7A5E-4890-84E9-6EF652AB44CF}" type="slidenum">
              <a:rPr lang="en-IN" smtClean="0"/>
              <a:t>18</a:t>
            </a:fld>
            <a:endParaRPr lang="en-IN"/>
          </a:p>
        </p:txBody>
      </p:sp>
    </p:spTree>
    <p:extLst>
      <p:ext uri="{BB962C8B-B14F-4D97-AF65-F5344CB8AC3E}">
        <p14:creationId xmlns:p14="http://schemas.microsoft.com/office/powerpoint/2010/main" val="586796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74420"/>
            <a:ext cx="9144000" cy="307777"/>
          </a:xfrm>
          <a:prstGeom prst="rect">
            <a:avLst/>
          </a:prstGeom>
          <a:noFill/>
        </p:spPr>
        <p:txBody>
          <a:bodyPr wrap="square">
            <a:spAutoFit/>
          </a:bodyPr>
          <a:lstStyle/>
          <a:p>
            <a:pPr algn="l">
              <a:spcAft>
                <a:spcPts val="0"/>
              </a:spcAft>
              <a:defRPr sz="1400" b="0">
                <a:solidFill>
                  <a:srgbClr val="93C5FD"/>
                </a:solidFill>
                <a:latin typeface="Calibri"/>
              </a:defRPr>
            </a:pPr>
            <a:r>
              <a:rPr lang="en-US" dirty="0"/>
              <a:t>                                                                                                            </a:t>
            </a:r>
            <a:r>
              <a:rPr dirty="0"/>
              <a:t>Project Presentation</a:t>
            </a:r>
          </a:p>
        </p:txBody>
      </p:sp>
      <p:sp>
        <p:nvSpPr>
          <p:cNvPr id="5" name="TextBox 4"/>
          <p:cNvSpPr txBox="1"/>
          <p:nvPr/>
        </p:nvSpPr>
        <p:spPr>
          <a:xfrm>
            <a:off x="1097280" y="1677180"/>
            <a:ext cx="9144000" cy="1097280"/>
          </a:xfrm>
          <a:prstGeom prst="rect">
            <a:avLst/>
          </a:prstGeom>
          <a:noFill/>
        </p:spPr>
        <p:txBody>
          <a:bodyPr wrap="square">
            <a:spAutoFit/>
          </a:bodyPr>
          <a:lstStyle/>
          <a:p>
            <a:pPr algn="l">
              <a:spcAft>
                <a:spcPts val="0"/>
              </a:spcAft>
              <a:defRPr sz="5400" b="1">
                <a:solidFill>
                  <a:srgbClr val="FFFFFF"/>
                </a:solidFill>
                <a:latin typeface="Calibri"/>
              </a:defRPr>
            </a:pPr>
            <a:r>
              <a:t>TradeWise</a:t>
            </a:r>
          </a:p>
        </p:txBody>
      </p:sp>
      <p:sp>
        <p:nvSpPr>
          <p:cNvPr id="6" name="TextBox 5"/>
          <p:cNvSpPr txBox="1"/>
          <p:nvPr/>
        </p:nvSpPr>
        <p:spPr>
          <a:xfrm>
            <a:off x="1097280" y="2743200"/>
            <a:ext cx="9144000" cy="731520"/>
          </a:xfrm>
          <a:prstGeom prst="rect">
            <a:avLst/>
          </a:prstGeom>
          <a:noFill/>
        </p:spPr>
        <p:txBody>
          <a:bodyPr wrap="square">
            <a:spAutoFit/>
          </a:bodyPr>
          <a:lstStyle/>
          <a:p>
            <a:pPr algn="l">
              <a:spcAft>
                <a:spcPts val="0"/>
              </a:spcAft>
              <a:defRPr sz="2000" b="0">
                <a:solidFill>
                  <a:srgbClr val="CBD5E1"/>
                </a:solidFill>
                <a:latin typeface="Calibri"/>
              </a:defRPr>
            </a:pPr>
            <a:r>
              <a:rPr dirty="0"/>
              <a:t>A Verified Trading Idea Sharing &amp; Learning Platform</a:t>
            </a:r>
            <a:br>
              <a:rPr dirty="0"/>
            </a:br>
            <a:r>
              <a:rPr dirty="0"/>
              <a:t>for Indian Equity Markets (NSE / BSE)</a:t>
            </a:r>
          </a:p>
        </p:txBody>
      </p:sp>
      <p:sp>
        <p:nvSpPr>
          <p:cNvPr id="7" name="Rectangle 6"/>
          <p:cNvSpPr/>
          <p:nvPr/>
        </p:nvSpPr>
        <p:spPr>
          <a:xfrm>
            <a:off x="1097280" y="3840480"/>
            <a:ext cx="502920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3886200"/>
            <a:ext cx="4572000" cy="411480"/>
          </a:xfrm>
          <a:prstGeom prst="rect">
            <a:avLst/>
          </a:prstGeom>
          <a:noFill/>
        </p:spPr>
        <p:txBody>
          <a:bodyPr wrap="square">
            <a:spAutoFit/>
          </a:bodyPr>
          <a:lstStyle/>
          <a:p>
            <a:pPr algn="l">
              <a:spcAft>
                <a:spcPts val="0"/>
              </a:spcAft>
              <a:defRPr sz="1600" b="1">
                <a:solidFill>
                  <a:srgbClr val="FFFFFF"/>
                </a:solidFill>
                <a:latin typeface="Calibri"/>
              </a:defRPr>
            </a:pPr>
            <a:r>
              <a:rPr dirty="0"/>
              <a:t>"Verified Trading, Not Guesswork"</a:t>
            </a:r>
          </a:p>
        </p:txBody>
      </p:sp>
      <p:sp>
        <p:nvSpPr>
          <p:cNvPr id="9" name="TextBox 8"/>
          <p:cNvSpPr txBox="1"/>
          <p:nvPr/>
        </p:nvSpPr>
        <p:spPr>
          <a:xfrm>
            <a:off x="1097280" y="5029200"/>
            <a:ext cx="5486400" cy="365760"/>
          </a:xfrm>
          <a:prstGeom prst="rect">
            <a:avLst/>
          </a:prstGeom>
          <a:noFill/>
        </p:spPr>
        <p:txBody>
          <a:bodyPr wrap="square">
            <a:spAutoFit/>
          </a:bodyPr>
          <a:lstStyle/>
          <a:p>
            <a:pPr algn="l">
              <a:spcAft>
                <a:spcPts val="0"/>
              </a:spcAft>
              <a:defRPr sz="1600" b="0">
                <a:solidFill>
                  <a:srgbClr val="94A3B8"/>
                </a:solidFill>
                <a:latin typeface="Calibri"/>
              </a:defRPr>
            </a:pPr>
            <a:r>
              <a:t>Presented by:  Dushyant</a:t>
            </a:r>
          </a:p>
        </p:txBody>
      </p:sp>
      <p:sp>
        <p:nvSpPr>
          <p:cNvPr id="10" name="TextBox 9"/>
          <p:cNvSpPr txBox="1"/>
          <p:nvPr/>
        </p:nvSpPr>
        <p:spPr>
          <a:xfrm>
            <a:off x="1097280" y="5440680"/>
            <a:ext cx="5486400" cy="292388"/>
          </a:xfrm>
          <a:prstGeom prst="rect">
            <a:avLst/>
          </a:prstGeom>
          <a:noFill/>
        </p:spPr>
        <p:txBody>
          <a:bodyPr wrap="square">
            <a:spAutoFit/>
          </a:bodyPr>
          <a:lstStyle/>
          <a:p>
            <a:pPr algn="l">
              <a:spcAft>
                <a:spcPts val="0"/>
              </a:spcAft>
              <a:defRPr sz="1300" b="0">
                <a:solidFill>
                  <a:srgbClr val="64748B"/>
                </a:solidFill>
                <a:latin typeface="Calibri"/>
              </a:defRPr>
            </a:pPr>
            <a:r>
              <a:rPr dirty="0"/>
              <a:t>Guided by:  </a:t>
            </a:r>
            <a:r>
              <a:rPr lang="en-US" dirty="0"/>
              <a:t>Prof. Balbhim 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rPr dirty="0"/>
              <a:t>Introduction</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t>The Rise of Retail Trading in India</a:t>
            </a:r>
          </a:p>
        </p:txBody>
      </p:sp>
      <p:sp>
        <p:nvSpPr>
          <p:cNvPr id="6" name="TextBox 5"/>
          <p:cNvSpPr txBox="1"/>
          <p:nvPr/>
        </p:nvSpPr>
        <p:spPr>
          <a:xfrm>
            <a:off x="731520" y="1371600"/>
            <a:ext cx="10058400" cy="4572000"/>
          </a:xfrm>
          <a:prstGeom prst="rect">
            <a:avLst/>
          </a:prstGeom>
          <a:noFill/>
        </p:spPr>
        <p:txBody>
          <a:bodyPr wrap="square">
            <a:spAutoFit/>
          </a:bodyPr>
          <a:lstStyle/>
          <a:p>
            <a:pPr>
              <a:spcBef>
                <a:spcPts val="600"/>
              </a:spcBef>
              <a:spcAft>
                <a:spcPts val="400"/>
              </a:spcAft>
            </a:pPr>
            <a:r>
              <a:rPr sz="1700">
                <a:solidFill>
                  <a:srgbClr val="1E293B"/>
                </a:solidFill>
                <a:latin typeface="Calibri"/>
              </a:rPr>
              <a:t>▸  Stock trading is seeing explosive growth via NSE &amp; BSE in India</a:t>
            </a:r>
          </a:p>
          <a:p>
            <a:pPr>
              <a:spcBef>
                <a:spcPts val="600"/>
              </a:spcBef>
              <a:spcAft>
                <a:spcPts val="400"/>
              </a:spcAft>
            </a:pPr>
            <a:r>
              <a:rPr sz="1700">
                <a:solidFill>
                  <a:srgbClr val="1E293B"/>
                </a:solidFill>
                <a:latin typeface="Calibri"/>
              </a:rPr>
              <a:t>▸  Retail investor base has grown from 4 Cr to 15+ Cr demat accounts (2020-2025)</a:t>
            </a:r>
          </a:p>
          <a:p>
            <a:pPr>
              <a:spcBef>
                <a:spcPts val="600"/>
              </a:spcBef>
              <a:spcAft>
                <a:spcPts val="400"/>
              </a:spcAft>
            </a:pPr>
            <a:r>
              <a:rPr sz="1700">
                <a:solidFill>
                  <a:srgbClr val="1E293B"/>
                </a:solidFill>
                <a:latin typeface="Calibri"/>
              </a:rPr>
              <a:t>▸  Social trading platforms (Telegram, WhatsApp, YouTube) are on the rise</a:t>
            </a:r>
          </a:p>
          <a:p>
            <a:pPr>
              <a:spcBef>
                <a:spcPts val="600"/>
              </a:spcBef>
              <a:spcAft>
                <a:spcPts val="400"/>
              </a:spcAft>
            </a:pPr>
            <a:r>
              <a:rPr sz="1700">
                <a:solidFill>
                  <a:srgbClr val="1E293B"/>
                </a:solidFill>
                <a:latin typeface="Calibri"/>
              </a:rPr>
              <a:t>▸  Massive spread of un</a:t>
            </a:r>
            <a:r>
              <a:rPr sz="1700" b="1">
                <a:solidFill>
                  <a:srgbClr val="3B82F6"/>
                </a:solidFill>
                <a:latin typeface="Calibri"/>
              </a:rPr>
              <a:t>verified</a:t>
            </a:r>
            <a:r>
              <a:rPr sz="1700">
                <a:solidFill>
                  <a:srgbClr val="1E293B"/>
                </a:solidFill>
                <a:latin typeface="Calibri"/>
              </a:rPr>
              <a:t> tips and misinformation</a:t>
            </a:r>
          </a:p>
          <a:p>
            <a:pPr>
              <a:spcBef>
                <a:spcPts val="600"/>
              </a:spcBef>
              <a:spcAft>
                <a:spcPts val="400"/>
              </a:spcAft>
            </a:pPr>
            <a:r>
              <a:rPr sz="1700">
                <a:solidFill>
                  <a:srgbClr val="1E293B"/>
                </a:solidFill>
                <a:latin typeface="Calibri"/>
              </a:rPr>
              <a:t>▸  No reliable system to validate trades or track mentor performance</a:t>
            </a:r>
          </a:p>
          <a:p>
            <a:pPr>
              <a:spcBef>
                <a:spcPts val="600"/>
              </a:spcBef>
              <a:spcAft>
                <a:spcPts val="400"/>
              </a:spcAft>
            </a:pPr>
            <a:r>
              <a:rPr sz="1700">
                <a:solidFill>
                  <a:srgbClr val="1E293B"/>
                </a:solidFill>
                <a:latin typeface="Calibri"/>
              </a:rPr>
              <a:t>▸  Need: A </a:t>
            </a:r>
            <a:r>
              <a:rPr sz="1700" b="1">
                <a:solidFill>
                  <a:srgbClr val="3B82F6"/>
                </a:solidFill>
                <a:latin typeface="Calibri"/>
              </a:rPr>
              <a:t>transparent</a:t>
            </a:r>
            <a:r>
              <a:rPr sz="1700">
                <a:solidFill>
                  <a:srgbClr val="1E293B"/>
                </a:solidFill>
                <a:latin typeface="Calibri"/>
              </a:rPr>
              <a:t>, proof-based platform for trading ideas</a:t>
            </a:r>
          </a:p>
        </p:txBody>
      </p:sp>
      <p:sp>
        <p:nvSpPr>
          <p:cNvPr id="7" name="Rectangle 6"/>
          <p:cNvSpPr/>
          <p:nvPr/>
        </p:nvSpPr>
        <p:spPr>
          <a:xfrm>
            <a:off x="305" y="644527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rPr dirty="0"/>
              <a:t>Problem Statement</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t>Why Current Trading Platforms Fail</a:t>
            </a:r>
          </a:p>
        </p:txBody>
      </p:sp>
      <p:sp>
        <p:nvSpPr>
          <p:cNvPr id="6" name="TextBox 5"/>
          <p:cNvSpPr txBox="1"/>
          <p:nvPr/>
        </p:nvSpPr>
        <p:spPr>
          <a:xfrm>
            <a:off x="731520" y="1371600"/>
            <a:ext cx="10058400" cy="4572000"/>
          </a:xfrm>
          <a:prstGeom prst="rect">
            <a:avLst/>
          </a:prstGeom>
          <a:noFill/>
        </p:spPr>
        <p:txBody>
          <a:bodyPr wrap="square">
            <a:spAutoFit/>
          </a:bodyPr>
          <a:lstStyle/>
          <a:p>
            <a:pPr>
              <a:spcBef>
                <a:spcPts val="600"/>
              </a:spcBef>
              <a:spcAft>
                <a:spcPts val="400"/>
              </a:spcAft>
            </a:pPr>
            <a:r>
              <a:rPr sz="1700">
                <a:solidFill>
                  <a:srgbClr val="1E293B"/>
                </a:solidFill>
                <a:latin typeface="Calibri"/>
              </a:rPr>
              <a:t>⚠  Signal-based trading via Telegram / WhatsApp groups lacks </a:t>
            </a:r>
            <a:r>
              <a:rPr sz="1700" b="1">
                <a:solidFill>
                  <a:srgbClr val="3B82F6"/>
                </a:solidFill>
                <a:latin typeface="Calibri"/>
              </a:rPr>
              <a:t>accountability</a:t>
            </a:r>
          </a:p>
          <a:p>
            <a:pPr>
              <a:spcBef>
                <a:spcPts val="600"/>
              </a:spcBef>
              <a:spcAft>
                <a:spcPts val="400"/>
              </a:spcAft>
            </a:pPr>
            <a:r>
              <a:rPr sz="1700">
                <a:solidFill>
                  <a:srgbClr val="1E293B"/>
                </a:solidFill>
                <a:latin typeface="Calibri"/>
              </a:rPr>
              <a:t>⚠  No proof, charts, or rationale shared with trade recommendations</a:t>
            </a:r>
          </a:p>
          <a:p>
            <a:pPr>
              <a:spcBef>
                <a:spcPts val="600"/>
              </a:spcBef>
              <a:spcAft>
                <a:spcPts val="400"/>
              </a:spcAft>
            </a:pPr>
            <a:r>
              <a:rPr sz="1700">
                <a:solidFill>
                  <a:srgbClr val="1E293B"/>
                </a:solidFill>
                <a:latin typeface="Calibri"/>
              </a:rPr>
              <a:t>⚠  Zero validation of whether a trade actually hit Target or Stop Loss (</a:t>
            </a:r>
            <a:r>
              <a:rPr sz="1700" b="1">
                <a:solidFill>
                  <a:srgbClr val="3B82F6"/>
                </a:solidFill>
                <a:latin typeface="Calibri"/>
              </a:rPr>
              <a:t>SL</a:t>
            </a:r>
            <a:r>
              <a:rPr sz="1700">
                <a:solidFill>
                  <a:srgbClr val="1E293B"/>
                </a:solidFill>
                <a:latin typeface="Calibri"/>
              </a:rPr>
              <a:t>)</a:t>
            </a:r>
          </a:p>
          <a:p>
            <a:pPr>
              <a:spcBef>
                <a:spcPts val="600"/>
              </a:spcBef>
              <a:spcAft>
                <a:spcPts val="400"/>
              </a:spcAft>
            </a:pPr>
            <a:r>
              <a:rPr sz="1700">
                <a:solidFill>
                  <a:srgbClr val="1E293B"/>
                </a:solidFill>
                <a:latin typeface="Calibri"/>
              </a:rPr>
              <a:t>⚠  Beginners lose money by blindly trusting anonymous 'experts'</a:t>
            </a:r>
          </a:p>
          <a:p>
            <a:pPr>
              <a:spcBef>
                <a:spcPts val="600"/>
              </a:spcBef>
              <a:spcAft>
                <a:spcPts val="400"/>
              </a:spcAft>
            </a:pPr>
            <a:r>
              <a:rPr sz="1700">
                <a:solidFill>
                  <a:srgbClr val="1E293B"/>
                </a:solidFill>
                <a:latin typeface="Calibri"/>
              </a:rPr>
              <a:t>⚠  No standardized system to measure trader </a:t>
            </a:r>
            <a:r>
              <a:rPr sz="1700" b="1">
                <a:solidFill>
                  <a:srgbClr val="3B82F6"/>
                </a:solidFill>
                <a:latin typeface="Calibri"/>
              </a:rPr>
              <a:t>accuracy</a:t>
            </a:r>
            <a:r>
              <a:rPr sz="1700">
                <a:solidFill>
                  <a:srgbClr val="1E293B"/>
                </a:solidFill>
                <a:latin typeface="Calibri"/>
              </a:rPr>
              <a:t> or performance</a:t>
            </a:r>
          </a:p>
          <a:p>
            <a:pPr>
              <a:spcBef>
                <a:spcPts val="600"/>
              </a:spcBef>
              <a:spcAft>
                <a:spcPts val="400"/>
              </a:spcAft>
            </a:pPr>
            <a:r>
              <a:rPr sz="1700">
                <a:solidFill>
                  <a:srgbClr val="1E293B"/>
                </a:solidFill>
                <a:latin typeface="Calibri"/>
              </a:rPr>
              <a:t>⚠  Result: A trust deficit in the entire social trading ecosystem</a:t>
            </a:r>
          </a:p>
        </p:txBody>
      </p:sp>
      <p:sp>
        <p:nvSpPr>
          <p:cNvPr id="7" name="Rectangle 6"/>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Project Objectives</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t>What TradeWise Sets Out to Achieve</a:t>
            </a:r>
          </a:p>
        </p:txBody>
      </p:sp>
      <p:sp>
        <p:nvSpPr>
          <p:cNvPr id="6" name="TextBox 5"/>
          <p:cNvSpPr txBox="1"/>
          <p:nvPr/>
        </p:nvSpPr>
        <p:spPr>
          <a:xfrm>
            <a:off x="731520" y="1371600"/>
            <a:ext cx="10058400" cy="4572000"/>
          </a:xfrm>
          <a:prstGeom prst="rect">
            <a:avLst/>
          </a:prstGeom>
          <a:noFill/>
        </p:spPr>
        <p:txBody>
          <a:bodyPr wrap="square">
            <a:spAutoFit/>
          </a:bodyPr>
          <a:lstStyle/>
          <a:p>
            <a:pPr>
              <a:spcBef>
                <a:spcPts val="600"/>
              </a:spcBef>
              <a:spcAft>
                <a:spcPts val="400"/>
              </a:spcAft>
            </a:pPr>
            <a:r>
              <a:rPr sz="1700">
                <a:solidFill>
                  <a:srgbClr val="1E293B"/>
                </a:solidFill>
                <a:latin typeface="Calibri"/>
              </a:rPr>
              <a:t>✔  Build a verified trading idea platform with </a:t>
            </a:r>
            <a:r>
              <a:rPr sz="1700" b="1">
                <a:solidFill>
                  <a:srgbClr val="3B82F6"/>
                </a:solidFill>
                <a:latin typeface="Calibri"/>
              </a:rPr>
              <a:t>structured</a:t>
            </a:r>
            <a:r>
              <a:rPr sz="1700">
                <a:solidFill>
                  <a:srgbClr val="1E293B"/>
                </a:solidFill>
                <a:latin typeface="Calibri"/>
              </a:rPr>
              <a:t> submissions</a:t>
            </a:r>
          </a:p>
          <a:p>
            <a:pPr>
              <a:spcBef>
                <a:spcPts val="600"/>
              </a:spcBef>
              <a:spcAft>
                <a:spcPts val="400"/>
              </a:spcAft>
            </a:pPr>
            <a:r>
              <a:rPr sz="1700">
                <a:solidFill>
                  <a:srgbClr val="1E293B"/>
                </a:solidFill>
                <a:latin typeface="Calibri"/>
              </a:rPr>
              <a:t>✔  Enforce mandatory fields: Symbol, Entry, </a:t>
            </a:r>
            <a:r>
              <a:rPr sz="1700" b="1">
                <a:solidFill>
                  <a:srgbClr val="3B82F6"/>
                </a:solidFill>
                <a:latin typeface="Calibri"/>
              </a:rPr>
              <a:t>SL</a:t>
            </a:r>
            <a:r>
              <a:rPr sz="1700">
                <a:solidFill>
                  <a:srgbClr val="1E293B"/>
                </a:solidFill>
                <a:latin typeface="Calibri"/>
              </a:rPr>
              <a:t>, Target, RRR, Chart &amp; Rationale</a:t>
            </a:r>
          </a:p>
          <a:p>
            <a:pPr>
              <a:spcBef>
                <a:spcPts val="600"/>
              </a:spcBef>
              <a:spcAft>
                <a:spcPts val="400"/>
              </a:spcAft>
            </a:pPr>
            <a:r>
              <a:rPr sz="1700">
                <a:solidFill>
                  <a:srgbClr val="1E293B"/>
                </a:solidFill>
                <a:latin typeface="Calibri"/>
              </a:rPr>
              <a:t>✔  Implement an </a:t>
            </a:r>
            <a:r>
              <a:rPr sz="1700" b="1">
                <a:solidFill>
                  <a:srgbClr val="3B82F6"/>
                </a:solidFill>
                <a:latin typeface="Calibri"/>
              </a:rPr>
              <a:t>Accuracy Engine</a:t>
            </a:r>
            <a:r>
              <a:rPr sz="1700">
                <a:solidFill>
                  <a:srgbClr val="1E293B"/>
                </a:solidFill>
                <a:latin typeface="Calibri"/>
              </a:rPr>
              <a:t> for auto result tracking (Target / SL hit)</a:t>
            </a:r>
          </a:p>
          <a:p>
            <a:pPr>
              <a:spcBef>
                <a:spcPts val="600"/>
              </a:spcBef>
              <a:spcAft>
                <a:spcPts val="400"/>
              </a:spcAft>
            </a:pPr>
            <a:r>
              <a:rPr sz="1700">
                <a:solidFill>
                  <a:srgbClr val="1E293B"/>
                </a:solidFill>
                <a:latin typeface="Calibri"/>
              </a:rPr>
              <a:t>✔  Promote learning over guessing with </a:t>
            </a:r>
            <a:r>
              <a:rPr sz="1700" b="1">
                <a:solidFill>
                  <a:srgbClr val="3B82F6"/>
                </a:solidFill>
                <a:latin typeface="Calibri"/>
              </a:rPr>
              <a:t>transparent</a:t>
            </a:r>
            <a:r>
              <a:rPr sz="1700">
                <a:solidFill>
                  <a:srgbClr val="1E293B"/>
                </a:solidFill>
                <a:latin typeface="Calibri"/>
              </a:rPr>
              <a:t> performance data</a:t>
            </a:r>
          </a:p>
          <a:p>
            <a:pPr>
              <a:spcBef>
                <a:spcPts val="600"/>
              </a:spcBef>
              <a:spcAft>
                <a:spcPts val="400"/>
              </a:spcAft>
            </a:pPr>
            <a:r>
              <a:rPr sz="1700">
                <a:solidFill>
                  <a:srgbClr val="1E293B"/>
                </a:solidFill>
                <a:latin typeface="Calibri"/>
              </a:rPr>
              <a:t>✔  Create data-driven trader credibility through verifiable track records</a:t>
            </a:r>
          </a:p>
        </p:txBody>
      </p:sp>
      <p:sp>
        <p:nvSpPr>
          <p:cNvPr id="7" name="Rectangle 6"/>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System Overview</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t>User Roles &amp; Core Workflow</a:t>
            </a:r>
          </a:p>
        </p:txBody>
      </p:sp>
      <p:sp>
        <p:nvSpPr>
          <p:cNvPr id="6" name="TextBox 5"/>
          <p:cNvSpPr txBox="1"/>
          <p:nvPr/>
        </p:nvSpPr>
        <p:spPr>
          <a:xfrm>
            <a:off x="731520" y="1325880"/>
            <a:ext cx="3657600" cy="365760"/>
          </a:xfrm>
          <a:prstGeom prst="rect">
            <a:avLst/>
          </a:prstGeom>
          <a:noFill/>
        </p:spPr>
        <p:txBody>
          <a:bodyPr wrap="square">
            <a:spAutoFit/>
          </a:bodyPr>
          <a:lstStyle/>
          <a:p>
            <a:pPr algn="l">
              <a:spcAft>
                <a:spcPts val="0"/>
              </a:spcAft>
              <a:defRPr sz="1800" b="1">
                <a:solidFill>
                  <a:srgbClr val="1E3A8A"/>
                </a:solidFill>
                <a:latin typeface="Calibri"/>
              </a:defRPr>
            </a:pPr>
            <a:r>
              <a:t>User Roles</a:t>
            </a:r>
          </a:p>
        </p:txBody>
      </p:sp>
      <p:sp>
        <p:nvSpPr>
          <p:cNvPr id="7" name="TextBox 6"/>
          <p:cNvSpPr txBox="1"/>
          <p:nvPr/>
        </p:nvSpPr>
        <p:spPr>
          <a:xfrm>
            <a:off x="731520" y="1783080"/>
            <a:ext cx="4572000" cy="2743200"/>
          </a:xfrm>
          <a:prstGeom prst="rect">
            <a:avLst/>
          </a:prstGeom>
          <a:noFill/>
        </p:spPr>
        <p:txBody>
          <a:bodyPr wrap="square">
            <a:spAutoFit/>
          </a:bodyPr>
          <a:lstStyle/>
          <a:p>
            <a:pPr>
              <a:spcBef>
                <a:spcPts val="600"/>
              </a:spcBef>
              <a:spcAft>
                <a:spcPts val="400"/>
              </a:spcAft>
            </a:pPr>
            <a:r>
              <a:rPr sz="1500">
                <a:solidFill>
                  <a:srgbClr val="1E293B"/>
                </a:solidFill>
                <a:latin typeface="Calibri"/>
              </a:rPr>
              <a:t>●  </a:t>
            </a:r>
            <a:r>
              <a:rPr sz="1500" b="1">
                <a:solidFill>
                  <a:srgbClr val="3B82F6"/>
                </a:solidFill>
                <a:latin typeface="Calibri"/>
              </a:rPr>
              <a:t>Learner</a:t>
            </a:r>
            <a:r>
              <a:rPr sz="1500">
                <a:solidFill>
                  <a:srgbClr val="1E293B"/>
                </a:solidFill>
                <a:latin typeface="Calibri"/>
              </a:rPr>
              <a:t> (Public Trader) - Browse &amp; unlock trade ideas</a:t>
            </a:r>
          </a:p>
          <a:p>
            <a:pPr>
              <a:spcBef>
                <a:spcPts val="600"/>
              </a:spcBef>
              <a:spcAft>
                <a:spcPts val="400"/>
              </a:spcAft>
            </a:pPr>
            <a:r>
              <a:rPr sz="1500">
                <a:solidFill>
                  <a:srgbClr val="1E293B"/>
                </a:solidFill>
                <a:latin typeface="Calibri"/>
              </a:rPr>
              <a:t>●  Pro-Trader (Mentor) - Post </a:t>
            </a:r>
            <a:r>
              <a:rPr sz="1500" b="1">
                <a:solidFill>
                  <a:srgbClr val="3B82F6"/>
                </a:solidFill>
                <a:latin typeface="Calibri"/>
              </a:rPr>
              <a:t>verified</a:t>
            </a:r>
            <a:r>
              <a:rPr sz="1500">
                <a:solidFill>
                  <a:srgbClr val="1E293B"/>
                </a:solidFill>
                <a:latin typeface="Calibri"/>
              </a:rPr>
              <a:t> trades with analysis</a:t>
            </a:r>
          </a:p>
          <a:p>
            <a:pPr>
              <a:spcBef>
                <a:spcPts val="600"/>
              </a:spcBef>
              <a:spcAft>
                <a:spcPts val="400"/>
              </a:spcAft>
            </a:pPr>
            <a:r>
              <a:rPr sz="1500">
                <a:solidFill>
                  <a:srgbClr val="1E293B"/>
                </a:solidFill>
                <a:latin typeface="Calibri"/>
              </a:rPr>
              <a:t>●  Admin - Moderate, verify </a:t>
            </a:r>
            <a:r>
              <a:rPr sz="1500" b="1">
                <a:solidFill>
                  <a:srgbClr val="3B82F6"/>
                </a:solidFill>
                <a:latin typeface="Calibri"/>
              </a:rPr>
              <a:t>KYC</a:t>
            </a:r>
            <a:r>
              <a:rPr sz="1500">
                <a:solidFill>
                  <a:srgbClr val="1E293B"/>
                </a:solidFill>
                <a:latin typeface="Calibri"/>
              </a:rPr>
              <a:t>, manage platform</a:t>
            </a:r>
          </a:p>
        </p:txBody>
      </p:sp>
      <p:sp>
        <p:nvSpPr>
          <p:cNvPr id="8" name="TextBox 7"/>
          <p:cNvSpPr txBox="1"/>
          <p:nvPr/>
        </p:nvSpPr>
        <p:spPr>
          <a:xfrm>
            <a:off x="5943600" y="1325880"/>
            <a:ext cx="5486400" cy="365760"/>
          </a:xfrm>
          <a:prstGeom prst="rect">
            <a:avLst/>
          </a:prstGeom>
          <a:noFill/>
        </p:spPr>
        <p:txBody>
          <a:bodyPr wrap="square">
            <a:spAutoFit/>
          </a:bodyPr>
          <a:lstStyle/>
          <a:p>
            <a:pPr algn="l">
              <a:spcAft>
                <a:spcPts val="0"/>
              </a:spcAft>
              <a:defRPr sz="1800" b="1">
                <a:solidFill>
                  <a:srgbClr val="1E3A8A"/>
                </a:solidFill>
                <a:latin typeface="Calibri"/>
              </a:defRPr>
            </a:pPr>
            <a:r>
              <a:t>Core Workflow</a:t>
            </a:r>
          </a:p>
        </p:txBody>
      </p:sp>
      <p:sp>
        <p:nvSpPr>
          <p:cNvPr id="9" name="Rectangle 8"/>
          <p:cNvSpPr/>
          <p:nvPr/>
        </p:nvSpPr>
        <p:spPr>
          <a:xfrm>
            <a:off x="6217920" y="1828800"/>
            <a:ext cx="50292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74520"/>
            <a:ext cx="365760" cy="274320"/>
          </a:xfrm>
          <a:prstGeom prst="rect">
            <a:avLst/>
          </a:prstGeom>
          <a:noFill/>
        </p:spPr>
        <p:txBody>
          <a:bodyPr wrap="square">
            <a:spAutoFit/>
          </a:bodyPr>
          <a:lstStyle/>
          <a:p>
            <a:pPr algn="l">
              <a:spcAft>
                <a:spcPts val="0"/>
              </a:spcAft>
              <a:defRPr sz="1400" b="1">
                <a:solidFill>
                  <a:srgbClr val="3B82F6"/>
                </a:solidFill>
                <a:latin typeface="Calibri"/>
              </a:defRPr>
            </a:pPr>
            <a:r>
              <a:t>1</a:t>
            </a:r>
          </a:p>
        </p:txBody>
      </p:sp>
      <p:sp>
        <p:nvSpPr>
          <p:cNvPr id="11" name="TextBox 10"/>
          <p:cNvSpPr txBox="1"/>
          <p:nvPr/>
        </p:nvSpPr>
        <p:spPr>
          <a:xfrm>
            <a:off x="6766560" y="1874520"/>
            <a:ext cx="2286000" cy="274320"/>
          </a:xfrm>
          <a:prstGeom prst="rect">
            <a:avLst/>
          </a:prstGeom>
          <a:noFill/>
        </p:spPr>
        <p:txBody>
          <a:bodyPr wrap="square">
            <a:spAutoFit/>
          </a:bodyPr>
          <a:lstStyle/>
          <a:p>
            <a:pPr algn="l">
              <a:spcAft>
                <a:spcPts val="0"/>
              </a:spcAft>
              <a:defRPr sz="1400" b="1">
                <a:solidFill>
                  <a:srgbClr val="1E293B"/>
                </a:solidFill>
                <a:latin typeface="Calibri"/>
              </a:defRPr>
            </a:pPr>
            <a:r>
              <a:t>Submit Trade</a:t>
            </a:r>
          </a:p>
        </p:txBody>
      </p:sp>
      <p:sp>
        <p:nvSpPr>
          <p:cNvPr id="12" name="TextBox 11"/>
          <p:cNvSpPr txBox="1"/>
          <p:nvPr/>
        </p:nvSpPr>
        <p:spPr>
          <a:xfrm>
            <a:off x="6766560" y="2176272"/>
            <a:ext cx="4114800" cy="274320"/>
          </a:xfrm>
          <a:prstGeom prst="rect">
            <a:avLst/>
          </a:prstGeom>
          <a:noFill/>
        </p:spPr>
        <p:txBody>
          <a:bodyPr wrap="square">
            <a:spAutoFit/>
          </a:bodyPr>
          <a:lstStyle/>
          <a:p>
            <a:pPr algn="l">
              <a:spcAft>
                <a:spcPts val="0"/>
              </a:spcAft>
              <a:defRPr sz="1100" b="0">
                <a:solidFill>
                  <a:srgbClr val="64748B"/>
                </a:solidFill>
                <a:latin typeface="Calibri"/>
              </a:defRPr>
            </a:pPr>
            <a:r>
              <a:t>Pro-Trader fills structured form</a:t>
            </a:r>
          </a:p>
        </p:txBody>
      </p:sp>
      <p:sp>
        <p:nvSpPr>
          <p:cNvPr id="13" name="Rectangle 12"/>
          <p:cNvSpPr/>
          <p:nvPr/>
        </p:nvSpPr>
        <p:spPr>
          <a:xfrm>
            <a:off x="6217920" y="2633472"/>
            <a:ext cx="50292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2679192"/>
            <a:ext cx="365760" cy="274320"/>
          </a:xfrm>
          <a:prstGeom prst="rect">
            <a:avLst/>
          </a:prstGeom>
          <a:noFill/>
        </p:spPr>
        <p:txBody>
          <a:bodyPr wrap="square">
            <a:spAutoFit/>
          </a:bodyPr>
          <a:lstStyle/>
          <a:p>
            <a:pPr algn="l">
              <a:spcAft>
                <a:spcPts val="0"/>
              </a:spcAft>
              <a:defRPr sz="1400" b="1">
                <a:solidFill>
                  <a:srgbClr val="3B82F6"/>
                </a:solidFill>
                <a:latin typeface="Calibri"/>
              </a:defRPr>
            </a:pPr>
            <a:r>
              <a:t>2</a:t>
            </a:r>
          </a:p>
        </p:txBody>
      </p:sp>
      <p:sp>
        <p:nvSpPr>
          <p:cNvPr id="15" name="TextBox 14"/>
          <p:cNvSpPr txBox="1"/>
          <p:nvPr/>
        </p:nvSpPr>
        <p:spPr>
          <a:xfrm>
            <a:off x="6766560" y="2679192"/>
            <a:ext cx="2286000" cy="274320"/>
          </a:xfrm>
          <a:prstGeom prst="rect">
            <a:avLst/>
          </a:prstGeom>
          <a:noFill/>
        </p:spPr>
        <p:txBody>
          <a:bodyPr wrap="square">
            <a:spAutoFit/>
          </a:bodyPr>
          <a:lstStyle/>
          <a:p>
            <a:pPr algn="l">
              <a:spcAft>
                <a:spcPts val="0"/>
              </a:spcAft>
              <a:defRPr sz="1400" b="1">
                <a:solidFill>
                  <a:srgbClr val="1E293B"/>
                </a:solidFill>
                <a:latin typeface="Calibri"/>
              </a:defRPr>
            </a:pPr>
            <a:r>
              <a:t>Validate Data</a:t>
            </a:r>
          </a:p>
        </p:txBody>
      </p:sp>
      <p:sp>
        <p:nvSpPr>
          <p:cNvPr id="16" name="TextBox 15"/>
          <p:cNvSpPr txBox="1"/>
          <p:nvPr/>
        </p:nvSpPr>
        <p:spPr>
          <a:xfrm>
            <a:off x="6766560" y="2980944"/>
            <a:ext cx="4114800" cy="274320"/>
          </a:xfrm>
          <a:prstGeom prst="rect">
            <a:avLst/>
          </a:prstGeom>
          <a:noFill/>
        </p:spPr>
        <p:txBody>
          <a:bodyPr wrap="square">
            <a:spAutoFit/>
          </a:bodyPr>
          <a:lstStyle/>
          <a:p>
            <a:pPr algn="l">
              <a:spcAft>
                <a:spcPts val="0"/>
              </a:spcAft>
              <a:defRPr sz="1100" b="0">
                <a:solidFill>
                  <a:srgbClr val="64748B"/>
                </a:solidFill>
                <a:latin typeface="Calibri"/>
              </a:defRPr>
            </a:pPr>
            <a:r>
              <a:t>System checks mandatory fields</a:t>
            </a:r>
          </a:p>
        </p:txBody>
      </p:sp>
      <p:sp>
        <p:nvSpPr>
          <p:cNvPr id="17" name="Rectangle 16"/>
          <p:cNvSpPr/>
          <p:nvPr/>
        </p:nvSpPr>
        <p:spPr>
          <a:xfrm>
            <a:off x="6217920" y="3438144"/>
            <a:ext cx="50292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483864"/>
            <a:ext cx="365760" cy="274320"/>
          </a:xfrm>
          <a:prstGeom prst="rect">
            <a:avLst/>
          </a:prstGeom>
          <a:noFill/>
        </p:spPr>
        <p:txBody>
          <a:bodyPr wrap="square">
            <a:spAutoFit/>
          </a:bodyPr>
          <a:lstStyle/>
          <a:p>
            <a:pPr algn="l">
              <a:spcAft>
                <a:spcPts val="0"/>
              </a:spcAft>
              <a:defRPr sz="1400" b="1">
                <a:solidFill>
                  <a:srgbClr val="3B82F6"/>
                </a:solidFill>
                <a:latin typeface="Calibri"/>
              </a:defRPr>
            </a:pPr>
            <a:r>
              <a:t>3</a:t>
            </a:r>
          </a:p>
        </p:txBody>
      </p:sp>
      <p:sp>
        <p:nvSpPr>
          <p:cNvPr id="19" name="TextBox 18"/>
          <p:cNvSpPr txBox="1"/>
          <p:nvPr/>
        </p:nvSpPr>
        <p:spPr>
          <a:xfrm>
            <a:off x="6766560" y="3483864"/>
            <a:ext cx="2286000" cy="274320"/>
          </a:xfrm>
          <a:prstGeom prst="rect">
            <a:avLst/>
          </a:prstGeom>
          <a:noFill/>
        </p:spPr>
        <p:txBody>
          <a:bodyPr wrap="square">
            <a:spAutoFit/>
          </a:bodyPr>
          <a:lstStyle/>
          <a:p>
            <a:pPr algn="l">
              <a:spcAft>
                <a:spcPts val="0"/>
              </a:spcAft>
              <a:defRPr sz="1400" b="1">
                <a:solidFill>
                  <a:srgbClr val="1E293B"/>
                </a:solidFill>
                <a:latin typeface="Calibri"/>
              </a:defRPr>
            </a:pPr>
            <a:r>
              <a:t>Monitor Price</a:t>
            </a:r>
          </a:p>
        </p:txBody>
      </p:sp>
      <p:sp>
        <p:nvSpPr>
          <p:cNvPr id="20" name="TextBox 19"/>
          <p:cNvSpPr txBox="1"/>
          <p:nvPr/>
        </p:nvSpPr>
        <p:spPr>
          <a:xfrm>
            <a:off x="6766560" y="3785616"/>
            <a:ext cx="4114800" cy="274320"/>
          </a:xfrm>
          <a:prstGeom prst="rect">
            <a:avLst/>
          </a:prstGeom>
          <a:noFill/>
        </p:spPr>
        <p:txBody>
          <a:bodyPr wrap="square">
            <a:spAutoFit/>
          </a:bodyPr>
          <a:lstStyle/>
          <a:p>
            <a:pPr algn="l">
              <a:spcAft>
                <a:spcPts val="0"/>
              </a:spcAft>
              <a:defRPr sz="1100" b="0">
                <a:solidFill>
                  <a:srgbClr val="64748B"/>
                </a:solidFill>
                <a:latin typeface="Calibri"/>
              </a:defRPr>
            </a:pPr>
            <a:r>
              <a:t>Accuracy Engine watches market</a:t>
            </a:r>
          </a:p>
        </p:txBody>
      </p:sp>
      <p:sp>
        <p:nvSpPr>
          <p:cNvPr id="21" name="Rectangle 20"/>
          <p:cNvSpPr/>
          <p:nvPr/>
        </p:nvSpPr>
        <p:spPr>
          <a:xfrm>
            <a:off x="6217920" y="4242816"/>
            <a:ext cx="50292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288536"/>
            <a:ext cx="365760" cy="274320"/>
          </a:xfrm>
          <a:prstGeom prst="rect">
            <a:avLst/>
          </a:prstGeom>
          <a:noFill/>
        </p:spPr>
        <p:txBody>
          <a:bodyPr wrap="square">
            <a:spAutoFit/>
          </a:bodyPr>
          <a:lstStyle/>
          <a:p>
            <a:pPr algn="l">
              <a:spcAft>
                <a:spcPts val="0"/>
              </a:spcAft>
              <a:defRPr sz="1400" b="1">
                <a:solidFill>
                  <a:srgbClr val="3B82F6"/>
                </a:solidFill>
                <a:latin typeface="Calibri"/>
              </a:defRPr>
            </a:pPr>
            <a:r>
              <a:t>4</a:t>
            </a:r>
          </a:p>
        </p:txBody>
      </p:sp>
      <p:sp>
        <p:nvSpPr>
          <p:cNvPr id="23" name="TextBox 22"/>
          <p:cNvSpPr txBox="1"/>
          <p:nvPr/>
        </p:nvSpPr>
        <p:spPr>
          <a:xfrm>
            <a:off x="6766560" y="4288536"/>
            <a:ext cx="2286000" cy="274320"/>
          </a:xfrm>
          <a:prstGeom prst="rect">
            <a:avLst/>
          </a:prstGeom>
          <a:noFill/>
        </p:spPr>
        <p:txBody>
          <a:bodyPr wrap="square">
            <a:spAutoFit/>
          </a:bodyPr>
          <a:lstStyle/>
          <a:p>
            <a:pPr algn="l">
              <a:spcAft>
                <a:spcPts val="0"/>
              </a:spcAft>
              <a:defRPr sz="1400" b="1">
                <a:solidFill>
                  <a:srgbClr val="1E293B"/>
                </a:solidFill>
                <a:latin typeface="Calibri"/>
              </a:defRPr>
            </a:pPr>
            <a:r>
              <a:t>Detect Result</a:t>
            </a:r>
          </a:p>
        </p:txBody>
      </p:sp>
      <p:sp>
        <p:nvSpPr>
          <p:cNvPr id="24" name="TextBox 23"/>
          <p:cNvSpPr txBox="1"/>
          <p:nvPr/>
        </p:nvSpPr>
        <p:spPr>
          <a:xfrm>
            <a:off x="6766560" y="4590288"/>
            <a:ext cx="4114800" cy="274320"/>
          </a:xfrm>
          <a:prstGeom prst="rect">
            <a:avLst/>
          </a:prstGeom>
          <a:noFill/>
        </p:spPr>
        <p:txBody>
          <a:bodyPr wrap="square">
            <a:spAutoFit/>
          </a:bodyPr>
          <a:lstStyle/>
          <a:p>
            <a:pPr algn="l">
              <a:spcAft>
                <a:spcPts val="0"/>
              </a:spcAft>
              <a:defRPr sz="1100" b="0">
                <a:solidFill>
                  <a:srgbClr val="64748B"/>
                </a:solidFill>
                <a:latin typeface="Calibri"/>
              </a:defRPr>
            </a:pPr>
            <a:r>
              <a:t>Target hit / SL hit detected</a:t>
            </a:r>
          </a:p>
        </p:txBody>
      </p:sp>
      <p:sp>
        <p:nvSpPr>
          <p:cNvPr id="25" name="Rectangle 24"/>
          <p:cNvSpPr/>
          <p:nvPr/>
        </p:nvSpPr>
        <p:spPr>
          <a:xfrm>
            <a:off x="6217920" y="5047488"/>
            <a:ext cx="50292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5093208"/>
            <a:ext cx="365760" cy="274320"/>
          </a:xfrm>
          <a:prstGeom prst="rect">
            <a:avLst/>
          </a:prstGeom>
          <a:noFill/>
        </p:spPr>
        <p:txBody>
          <a:bodyPr wrap="square">
            <a:spAutoFit/>
          </a:bodyPr>
          <a:lstStyle/>
          <a:p>
            <a:pPr algn="l">
              <a:spcAft>
                <a:spcPts val="0"/>
              </a:spcAft>
              <a:defRPr sz="1400" b="1">
                <a:solidFill>
                  <a:srgbClr val="3B82F6"/>
                </a:solidFill>
                <a:latin typeface="Calibri"/>
              </a:defRPr>
            </a:pPr>
            <a:r>
              <a:t>5</a:t>
            </a:r>
          </a:p>
        </p:txBody>
      </p:sp>
      <p:sp>
        <p:nvSpPr>
          <p:cNvPr id="27" name="TextBox 26"/>
          <p:cNvSpPr txBox="1"/>
          <p:nvPr/>
        </p:nvSpPr>
        <p:spPr>
          <a:xfrm>
            <a:off x="6766560" y="5093208"/>
            <a:ext cx="2286000" cy="274320"/>
          </a:xfrm>
          <a:prstGeom prst="rect">
            <a:avLst/>
          </a:prstGeom>
          <a:noFill/>
        </p:spPr>
        <p:txBody>
          <a:bodyPr wrap="square">
            <a:spAutoFit/>
          </a:bodyPr>
          <a:lstStyle/>
          <a:p>
            <a:pPr algn="l">
              <a:spcAft>
                <a:spcPts val="0"/>
              </a:spcAft>
              <a:defRPr sz="1400" b="1">
                <a:solidFill>
                  <a:srgbClr val="1E293B"/>
                </a:solidFill>
                <a:latin typeface="Calibri"/>
              </a:defRPr>
            </a:pPr>
            <a:r>
              <a:t>Update Score</a:t>
            </a:r>
          </a:p>
        </p:txBody>
      </p:sp>
      <p:sp>
        <p:nvSpPr>
          <p:cNvPr id="28" name="TextBox 27"/>
          <p:cNvSpPr txBox="1"/>
          <p:nvPr/>
        </p:nvSpPr>
        <p:spPr>
          <a:xfrm>
            <a:off x="6766560" y="5394960"/>
            <a:ext cx="4114800" cy="274320"/>
          </a:xfrm>
          <a:prstGeom prst="rect">
            <a:avLst/>
          </a:prstGeom>
          <a:noFill/>
        </p:spPr>
        <p:txBody>
          <a:bodyPr wrap="square">
            <a:spAutoFit/>
          </a:bodyPr>
          <a:lstStyle/>
          <a:p>
            <a:pPr algn="l">
              <a:spcAft>
                <a:spcPts val="0"/>
              </a:spcAft>
              <a:defRPr sz="1100" b="0">
                <a:solidFill>
                  <a:srgbClr val="64748B"/>
                </a:solidFill>
                <a:latin typeface="Calibri"/>
              </a:defRPr>
            </a:pPr>
            <a:r>
              <a:t>Accuracy auto-updated</a:t>
            </a:r>
          </a:p>
        </p:txBody>
      </p:sp>
      <p:sp>
        <p:nvSpPr>
          <p:cNvPr id="29" name="Rectangle 28"/>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Key Features</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t>What Makes TradeWise Different</a:t>
            </a:r>
          </a:p>
        </p:txBody>
      </p:sp>
      <p:sp>
        <p:nvSpPr>
          <p:cNvPr id="6" name="Rectangle 5"/>
          <p:cNvSpPr/>
          <p:nvPr/>
        </p:nvSpPr>
        <p:spPr>
          <a:xfrm>
            <a:off x="548640" y="137160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Structured Trade Posting</a:t>
            </a:r>
          </a:p>
        </p:txBody>
      </p:sp>
      <p:sp>
        <p:nvSpPr>
          <p:cNvPr id="8" name="TextBox 7"/>
          <p:cNvSpPr txBox="1"/>
          <p:nvPr/>
        </p:nvSpPr>
        <p:spPr>
          <a:xfrm>
            <a:off x="731520" y="182880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Mandatory fields: Symbol, Direction, Entry, SL, Target, Chart, Rationale (min 50 words)</a:t>
            </a:r>
          </a:p>
        </p:txBody>
      </p:sp>
      <p:sp>
        <p:nvSpPr>
          <p:cNvPr id="9" name="Rectangle 8"/>
          <p:cNvSpPr/>
          <p:nvPr/>
        </p:nvSpPr>
        <p:spPr>
          <a:xfrm>
            <a:off x="6217920" y="137160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6304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Accuracy Engine</a:t>
            </a:r>
          </a:p>
        </p:txBody>
      </p:sp>
      <p:sp>
        <p:nvSpPr>
          <p:cNvPr id="11" name="TextBox 10"/>
          <p:cNvSpPr txBox="1"/>
          <p:nvPr/>
        </p:nvSpPr>
        <p:spPr>
          <a:xfrm>
            <a:off x="6400800" y="182880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Automatically tracks whether trade hits Target or SL and updates trader's accuracy score</a:t>
            </a:r>
          </a:p>
        </p:txBody>
      </p:sp>
      <p:sp>
        <p:nvSpPr>
          <p:cNvPr id="12" name="Rectangle 11"/>
          <p:cNvSpPr/>
          <p:nvPr/>
        </p:nvSpPr>
        <p:spPr>
          <a:xfrm>
            <a:off x="548640" y="260604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69748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Risk-Reward Ratio (RRR)</a:t>
            </a:r>
          </a:p>
        </p:txBody>
      </p:sp>
      <p:sp>
        <p:nvSpPr>
          <p:cNvPr id="14" name="TextBox 13"/>
          <p:cNvSpPr txBox="1"/>
          <p:nvPr/>
        </p:nvSpPr>
        <p:spPr>
          <a:xfrm>
            <a:off x="731520" y="306324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Auto-calculated for every trade to ensure proper risk management</a:t>
            </a:r>
          </a:p>
        </p:txBody>
      </p:sp>
      <p:sp>
        <p:nvSpPr>
          <p:cNvPr id="15" name="Rectangle 14"/>
          <p:cNvSpPr/>
          <p:nvPr/>
        </p:nvSpPr>
        <p:spPr>
          <a:xfrm>
            <a:off x="6217920" y="260604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69748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Performance Dashboard</a:t>
            </a:r>
          </a:p>
        </p:txBody>
      </p:sp>
      <p:sp>
        <p:nvSpPr>
          <p:cNvPr id="17" name="TextBox 16"/>
          <p:cNvSpPr txBox="1"/>
          <p:nvPr/>
        </p:nvSpPr>
        <p:spPr>
          <a:xfrm>
            <a:off x="6400800" y="306324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Visual analytics: Win Rate, Accuracy %, monthly trends, trade history</a:t>
            </a:r>
          </a:p>
        </p:txBody>
      </p:sp>
      <p:sp>
        <p:nvSpPr>
          <p:cNvPr id="18" name="Rectangle 17"/>
          <p:cNvSpPr/>
          <p:nvPr/>
        </p:nvSpPr>
        <p:spPr>
          <a:xfrm>
            <a:off x="548640" y="384048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3192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Admin Moderation</a:t>
            </a:r>
          </a:p>
        </p:txBody>
      </p:sp>
      <p:sp>
        <p:nvSpPr>
          <p:cNvPr id="20" name="TextBox 19"/>
          <p:cNvSpPr txBox="1"/>
          <p:nvPr/>
        </p:nvSpPr>
        <p:spPr>
          <a:xfrm>
            <a:off x="731520" y="429768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KYC verification, flagged trade review, user management, payout approval</a:t>
            </a:r>
          </a:p>
        </p:txBody>
      </p:sp>
      <p:sp>
        <p:nvSpPr>
          <p:cNvPr id="21" name="Rectangle 20"/>
          <p:cNvSpPr/>
          <p:nvPr/>
        </p:nvSpPr>
        <p:spPr>
          <a:xfrm>
            <a:off x="6217920" y="3840480"/>
            <a:ext cx="5120640" cy="10515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3931920"/>
            <a:ext cx="4754880" cy="320040"/>
          </a:xfrm>
          <a:prstGeom prst="rect">
            <a:avLst/>
          </a:prstGeom>
          <a:noFill/>
        </p:spPr>
        <p:txBody>
          <a:bodyPr wrap="square">
            <a:spAutoFit/>
          </a:bodyPr>
          <a:lstStyle/>
          <a:p>
            <a:pPr algn="l">
              <a:spcAft>
                <a:spcPts val="0"/>
              </a:spcAft>
              <a:defRPr sz="1500" b="1">
                <a:solidFill>
                  <a:srgbClr val="1E3A8A"/>
                </a:solidFill>
                <a:latin typeface="Calibri"/>
              </a:defRPr>
            </a:pPr>
            <a:r>
              <a:t>Credit &amp; Subscription Model</a:t>
            </a:r>
          </a:p>
        </p:txBody>
      </p:sp>
      <p:sp>
        <p:nvSpPr>
          <p:cNvPr id="23" name="TextBox 22"/>
          <p:cNvSpPr txBox="1"/>
          <p:nvPr/>
        </p:nvSpPr>
        <p:spPr>
          <a:xfrm>
            <a:off x="6400800" y="4297680"/>
            <a:ext cx="4754880" cy="548640"/>
          </a:xfrm>
          <a:prstGeom prst="rect">
            <a:avLst/>
          </a:prstGeom>
          <a:noFill/>
        </p:spPr>
        <p:txBody>
          <a:bodyPr wrap="square">
            <a:spAutoFit/>
          </a:bodyPr>
          <a:lstStyle/>
          <a:p>
            <a:pPr algn="l">
              <a:spcAft>
                <a:spcPts val="0"/>
              </a:spcAft>
              <a:defRPr sz="1100" b="0">
                <a:solidFill>
                  <a:srgbClr val="64748B"/>
                </a:solidFill>
                <a:latin typeface="Calibri"/>
              </a:defRPr>
            </a:pPr>
            <a:r>
              <a:t>7 free credits on signup; monthly subscriptions for unlimited access</a:t>
            </a:r>
          </a:p>
        </p:txBody>
      </p:sp>
      <p:sp>
        <p:nvSpPr>
          <p:cNvPr id="24" name="Rectangle 23"/>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Technology Stack</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rPr dirty="0"/>
              <a:t>Tools &amp; Frameworks Used</a:t>
            </a:r>
          </a:p>
        </p:txBody>
      </p:sp>
      <p:sp>
        <p:nvSpPr>
          <p:cNvPr id="6" name="Rectangle 5"/>
          <p:cNvSpPr/>
          <p:nvPr/>
        </p:nvSpPr>
        <p:spPr>
          <a:xfrm>
            <a:off x="548640" y="1371600"/>
            <a:ext cx="109728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8132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Frontend</a:t>
            </a:r>
          </a:p>
        </p:txBody>
      </p:sp>
      <p:sp>
        <p:nvSpPr>
          <p:cNvPr id="8" name="TextBox 7"/>
          <p:cNvSpPr txBox="1"/>
          <p:nvPr/>
        </p:nvSpPr>
        <p:spPr>
          <a:xfrm>
            <a:off x="2926080" y="148132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HTML, CSS, JavaScript (Vanilla)</a:t>
            </a:r>
          </a:p>
        </p:txBody>
      </p:sp>
      <p:sp>
        <p:nvSpPr>
          <p:cNvPr id="9" name="TextBox 8"/>
          <p:cNvSpPr txBox="1"/>
          <p:nvPr/>
        </p:nvSpPr>
        <p:spPr>
          <a:xfrm>
            <a:off x="6858000" y="148132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User interfaces for Learner, Pro-Trader, Admin</a:t>
            </a:r>
          </a:p>
        </p:txBody>
      </p:sp>
      <p:sp>
        <p:nvSpPr>
          <p:cNvPr id="10" name="Rectangle 9"/>
          <p:cNvSpPr/>
          <p:nvPr/>
        </p:nvSpPr>
        <p:spPr>
          <a:xfrm>
            <a:off x="548640" y="2103120"/>
            <a:ext cx="10972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21284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Backend</a:t>
            </a:r>
          </a:p>
        </p:txBody>
      </p:sp>
      <p:sp>
        <p:nvSpPr>
          <p:cNvPr id="12" name="TextBox 11"/>
          <p:cNvSpPr txBox="1"/>
          <p:nvPr/>
        </p:nvSpPr>
        <p:spPr>
          <a:xfrm>
            <a:off x="2926080" y="221284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Flask (Python 3.11+)</a:t>
            </a:r>
          </a:p>
        </p:txBody>
      </p:sp>
      <p:sp>
        <p:nvSpPr>
          <p:cNvPr id="13" name="TextBox 12"/>
          <p:cNvSpPr txBox="1"/>
          <p:nvPr/>
        </p:nvSpPr>
        <p:spPr>
          <a:xfrm>
            <a:off x="6858000" y="221284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REST API, JWT Authentication, Role-based Access</a:t>
            </a:r>
          </a:p>
        </p:txBody>
      </p:sp>
      <p:sp>
        <p:nvSpPr>
          <p:cNvPr id="14" name="Rectangle 13"/>
          <p:cNvSpPr/>
          <p:nvPr/>
        </p:nvSpPr>
        <p:spPr>
          <a:xfrm>
            <a:off x="548640" y="2834640"/>
            <a:ext cx="109728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4436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Database</a:t>
            </a:r>
          </a:p>
        </p:txBody>
      </p:sp>
      <p:sp>
        <p:nvSpPr>
          <p:cNvPr id="16" name="TextBox 15"/>
          <p:cNvSpPr txBox="1"/>
          <p:nvPr/>
        </p:nvSpPr>
        <p:spPr>
          <a:xfrm>
            <a:off x="2926080" y="294436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MySQL / PostgreSQL (Supabase)</a:t>
            </a:r>
          </a:p>
        </p:txBody>
      </p:sp>
      <p:sp>
        <p:nvSpPr>
          <p:cNvPr id="17" name="TextBox 16"/>
          <p:cNvSpPr txBox="1"/>
          <p:nvPr/>
        </p:nvSpPr>
        <p:spPr>
          <a:xfrm>
            <a:off x="6858000" y="294436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22 tables with Row Level Security</a:t>
            </a:r>
          </a:p>
        </p:txBody>
      </p:sp>
      <p:sp>
        <p:nvSpPr>
          <p:cNvPr id="18" name="Rectangle 17"/>
          <p:cNvSpPr/>
          <p:nvPr/>
        </p:nvSpPr>
        <p:spPr>
          <a:xfrm>
            <a:off x="548640" y="3566160"/>
            <a:ext cx="10972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67588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File Storage</a:t>
            </a:r>
          </a:p>
        </p:txBody>
      </p:sp>
      <p:sp>
        <p:nvSpPr>
          <p:cNvPr id="20" name="TextBox 19"/>
          <p:cNvSpPr txBox="1"/>
          <p:nvPr/>
        </p:nvSpPr>
        <p:spPr>
          <a:xfrm>
            <a:off x="2926080" y="367588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Local / Supabase Storage</a:t>
            </a:r>
          </a:p>
        </p:txBody>
      </p:sp>
      <p:sp>
        <p:nvSpPr>
          <p:cNvPr id="21" name="TextBox 20"/>
          <p:cNvSpPr txBox="1"/>
          <p:nvPr/>
        </p:nvSpPr>
        <p:spPr>
          <a:xfrm>
            <a:off x="6858000" y="367588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Avatars (public), Charts (public), KYC docs (private)</a:t>
            </a:r>
          </a:p>
        </p:txBody>
      </p:sp>
      <p:sp>
        <p:nvSpPr>
          <p:cNvPr id="22" name="Rectangle 21"/>
          <p:cNvSpPr/>
          <p:nvPr/>
        </p:nvSpPr>
        <p:spPr>
          <a:xfrm>
            <a:off x="548640" y="4297680"/>
            <a:ext cx="10972800" cy="6858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40740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Authentication</a:t>
            </a:r>
          </a:p>
        </p:txBody>
      </p:sp>
      <p:sp>
        <p:nvSpPr>
          <p:cNvPr id="24" name="TextBox 23"/>
          <p:cNvSpPr txBox="1"/>
          <p:nvPr/>
        </p:nvSpPr>
        <p:spPr>
          <a:xfrm>
            <a:off x="2926080" y="440740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JWT + bcrypt + TOTP 2FA</a:t>
            </a:r>
          </a:p>
        </p:txBody>
      </p:sp>
      <p:sp>
        <p:nvSpPr>
          <p:cNvPr id="25" name="TextBox 24"/>
          <p:cNvSpPr txBox="1"/>
          <p:nvPr/>
        </p:nvSpPr>
        <p:spPr>
          <a:xfrm>
            <a:off x="6858000" y="440740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Secure login, token refresh, optional two-factor</a:t>
            </a:r>
          </a:p>
        </p:txBody>
      </p:sp>
      <p:sp>
        <p:nvSpPr>
          <p:cNvPr id="26" name="Rectangle 25"/>
          <p:cNvSpPr/>
          <p:nvPr/>
        </p:nvSpPr>
        <p:spPr>
          <a:xfrm>
            <a:off x="548640" y="5029200"/>
            <a:ext cx="109728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5138928"/>
            <a:ext cx="1828800" cy="457200"/>
          </a:xfrm>
          <a:prstGeom prst="rect">
            <a:avLst/>
          </a:prstGeom>
          <a:noFill/>
        </p:spPr>
        <p:txBody>
          <a:bodyPr wrap="square">
            <a:spAutoFit/>
          </a:bodyPr>
          <a:lstStyle/>
          <a:p>
            <a:pPr algn="l">
              <a:spcAft>
                <a:spcPts val="0"/>
              </a:spcAft>
              <a:defRPr sz="1400" b="1">
                <a:solidFill>
                  <a:srgbClr val="1E3A8A"/>
                </a:solidFill>
                <a:latin typeface="Calibri"/>
              </a:defRPr>
            </a:pPr>
            <a:r>
              <a:t>Payments</a:t>
            </a:r>
          </a:p>
        </p:txBody>
      </p:sp>
      <p:sp>
        <p:nvSpPr>
          <p:cNvPr id="28" name="TextBox 27"/>
          <p:cNvSpPr txBox="1"/>
          <p:nvPr/>
        </p:nvSpPr>
        <p:spPr>
          <a:xfrm>
            <a:off x="2926080" y="5138928"/>
            <a:ext cx="3657600" cy="457200"/>
          </a:xfrm>
          <a:prstGeom prst="rect">
            <a:avLst/>
          </a:prstGeom>
          <a:noFill/>
        </p:spPr>
        <p:txBody>
          <a:bodyPr wrap="square">
            <a:spAutoFit/>
          </a:bodyPr>
          <a:lstStyle/>
          <a:p>
            <a:pPr algn="l">
              <a:spcAft>
                <a:spcPts val="0"/>
              </a:spcAft>
              <a:defRPr sz="1400" b="1">
                <a:solidFill>
                  <a:srgbClr val="1E293B"/>
                </a:solidFill>
                <a:latin typeface="Calibri"/>
              </a:defRPr>
            </a:pPr>
            <a:r>
              <a:t>Cashfree (Sandbox)</a:t>
            </a:r>
          </a:p>
        </p:txBody>
      </p:sp>
      <p:sp>
        <p:nvSpPr>
          <p:cNvPr id="29" name="TextBox 28"/>
          <p:cNvSpPr txBox="1"/>
          <p:nvPr/>
        </p:nvSpPr>
        <p:spPr>
          <a:xfrm>
            <a:off x="6858000" y="5138928"/>
            <a:ext cx="4572000" cy="457200"/>
          </a:xfrm>
          <a:prstGeom prst="rect">
            <a:avLst/>
          </a:prstGeom>
          <a:noFill/>
        </p:spPr>
        <p:txBody>
          <a:bodyPr wrap="square">
            <a:spAutoFit/>
          </a:bodyPr>
          <a:lstStyle/>
          <a:p>
            <a:pPr algn="l">
              <a:spcAft>
                <a:spcPts val="0"/>
              </a:spcAft>
              <a:defRPr sz="1200" b="0">
                <a:solidFill>
                  <a:srgbClr val="64748B"/>
                </a:solidFill>
                <a:latin typeface="Calibri"/>
              </a:defRPr>
            </a:pPr>
            <a:r>
              <a:t>Subscription payments &amp; Pro-Trader payouts</a:t>
            </a:r>
          </a:p>
        </p:txBody>
      </p:sp>
      <p:sp>
        <p:nvSpPr>
          <p:cNvPr id="30" name="Rectangle 29"/>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Advantages &amp; Real-World Impact</a:t>
            </a:r>
          </a:p>
        </p:txBody>
      </p:sp>
      <p:sp>
        <p:nvSpPr>
          <p:cNvPr id="5" name="TextBox 4"/>
          <p:cNvSpPr txBox="1"/>
          <p:nvPr/>
        </p:nvSpPr>
        <p:spPr>
          <a:xfrm>
            <a:off x="548640" y="640080"/>
            <a:ext cx="9144000" cy="365760"/>
          </a:xfrm>
          <a:prstGeom prst="rect">
            <a:avLst/>
          </a:prstGeom>
          <a:noFill/>
        </p:spPr>
        <p:txBody>
          <a:bodyPr wrap="square">
            <a:spAutoFit/>
          </a:bodyPr>
          <a:lstStyle/>
          <a:p>
            <a:pPr algn="l">
              <a:spcAft>
                <a:spcPts val="0"/>
              </a:spcAft>
              <a:defRPr sz="1300" b="0">
                <a:solidFill>
                  <a:srgbClr val="93C5FD"/>
                </a:solidFill>
                <a:latin typeface="Calibri"/>
              </a:defRPr>
            </a:pPr>
            <a:r>
              <a:rPr dirty="0"/>
              <a:t>How </a:t>
            </a:r>
            <a:r>
              <a:rPr dirty="0" err="1"/>
              <a:t>TradeWise</a:t>
            </a:r>
            <a:r>
              <a:rPr dirty="0"/>
              <a:t> Changes the Trading Ecosystem</a:t>
            </a:r>
          </a:p>
        </p:txBody>
      </p:sp>
      <p:sp>
        <p:nvSpPr>
          <p:cNvPr id="6" name="TextBox 5"/>
          <p:cNvSpPr txBox="1"/>
          <p:nvPr/>
        </p:nvSpPr>
        <p:spPr>
          <a:xfrm>
            <a:off x="731520" y="1371600"/>
            <a:ext cx="10058400" cy="4572000"/>
          </a:xfrm>
          <a:prstGeom prst="rect">
            <a:avLst/>
          </a:prstGeom>
          <a:noFill/>
        </p:spPr>
        <p:txBody>
          <a:bodyPr wrap="square">
            <a:spAutoFit/>
          </a:bodyPr>
          <a:lstStyle/>
          <a:p>
            <a:pPr>
              <a:spcBef>
                <a:spcPts val="600"/>
              </a:spcBef>
              <a:spcAft>
                <a:spcPts val="400"/>
              </a:spcAft>
            </a:pPr>
            <a:r>
              <a:rPr sz="1700">
                <a:solidFill>
                  <a:srgbClr val="1E293B"/>
                </a:solidFill>
                <a:latin typeface="Calibri"/>
              </a:rPr>
              <a:t>✔  Eliminates fake trading signals by enforcing proof-based submissions</a:t>
            </a:r>
          </a:p>
          <a:p>
            <a:pPr>
              <a:spcBef>
                <a:spcPts val="600"/>
              </a:spcBef>
              <a:spcAft>
                <a:spcPts val="400"/>
              </a:spcAft>
            </a:pPr>
            <a:r>
              <a:rPr sz="1700">
                <a:solidFill>
                  <a:srgbClr val="1E293B"/>
                </a:solidFill>
                <a:latin typeface="Calibri"/>
              </a:rPr>
              <a:t>✔  Builds trust through </a:t>
            </a:r>
            <a:r>
              <a:rPr sz="1700" b="1">
                <a:solidFill>
                  <a:srgbClr val="3B82F6"/>
                </a:solidFill>
                <a:latin typeface="Calibri"/>
              </a:rPr>
              <a:t>verified</a:t>
            </a:r>
            <a:r>
              <a:rPr sz="1700">
                <a:solidFill>
                  <a:srgbClr val="1E293B"/>
                </a:solidFill>
                <a:latin typeface="Calibri"/>
              </a:rPr>
              <a:t>, transparent accuracy data</a:t>
            </a:r>
          </a:p>
          <a:p>
            <a:pPr>
              <a:spcBef>
                <a:spcPts val="600"/>
              </a:spcBef>
              <a:spcAft>
                <a:spcPts val="400"/>
              </a:spcAft>
            </a:pPr>
            <a:r>
              <a:rPr sz="1700">
                <a:solidFill>
                  <a:srgbClr val="1E293B"/>
                </a:solidFill>
                <a:latin typeface="Calibri"/>
              </a:rPr>
              <a:t>✔  Helps beginners learn from real technical analysis, not blind tips</a:t>
            </a:r>
          </a:p>
          <a:p>
            <a:pPr>
              <a:spcBef>
                <a:spcPts val="600"/>
              </a:spcBef>
              <a:spcAft>
                <a:spcPts val="400"/>
              </a:spcAft>
            </a:pPr>
            <a:r>
              <a:rPr sz="1700">
                <a:solidFill>
                  <a:srgbClr val="1E293B"/>
                </a:solidFill>
                <a:latin typeface="Calibri"/>
              </a:rPr>
              <a:t>✔  Encourages responsible trading with mandatory </a:t>
            </a:r>
            <a:r>
              <a:rPr sz="1700" b="1">
                <a:solidFill>
                  <a:srgbClr val="3B82F6"/>
                </a:solidFill>
                <a:latin typeface="Calibri"/>
              </a:rPr>
              <a:t>SL</a:t>
            </a:r>
            <a:r>
              <a:rPr sz="1700">
                <a:solidFill>
                  <a:srgbClr val="1E293B"/>
                </a:solidFill>
                <a:latin typeface="Calibri"/>
              </a:rPr>
              <a:t> and Target fields</a:t>
            </a:r>
          </a:p>
          <a:p>
            <a:pPr>
              <a:spcBef>
                <a:spcPts val="600"/>
              </a:spcBef>
              <a:spcAft>
                <a:spcPts val="400"/>
              </a:spcAft>
            </a:pPr>
            <a:r>
              <a:rPr sz="1700">
                <a:solidFill>
                  <a:srgbClr val="1E293B"/>
                </a:solidFill>
                <a:latin typeface="Calibri"/>
              </a:rPr>
              <a:t>✔  Creates a </a:t>
            </a:r>
            <a:r>
              <a:rPr sz="1700" b="1">
                <a:solidFill>
                  <a:srgbClr val="3B82F6"/>
                </a:solidFill>
                <a:latin typeface="Calibri"/>
              </a:rPr>
              <a:t>transparent</a:t>
            </a:r>
            <a:r>
              <a:rPr sz="1700">
                <a:solidFill>
                  <a:srgbClr val="1E293B"/>
                </a:solidFill>
                <a:latin typeface="Calibri"/>
              </a:rPr>
              <a:t> trader ranking system based on actual results</a:t>
            </a:r>
          </a:p>
          <a:p>
            <a:pPr>
              <a:spcBef>
                <a:spcPts val="600"/>
              </a:spcBef>
              <a:spcAft>
                <a:spcPts val="400"/>
              </a:spcAft>
            </a:pPr>
            <a:r>
              <a:rPr sz="1700">
                <a:solidFill>
                  <a:srgbClr val="1E293B"/>
                </a:solidFill>
                <a:latin typeface="Calibri"/>
              </a:rPr>
              <a:t>✔  Revenue model supports quality mentors (90/10 split)</a:t>
            </a:r>
          </a:p>
        </p:txBody>
      </p:sp>
      <p:sp>
        <p:nvSpPr>
          <p:cNvPr id="7" name="Rectangle 6"/>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5C3B76-DD57-8425-6964-F45F35AC4D03}"/>
              </a:ext>
            </a:extLst>
          </p:cNvPr>
          <p:cNvPicPr>
            <a:picLocks noChangeAspect="1"/>
          </p:cNvPicPr>
          <p:nvPr/>
        </p:nvPicPr>
        <p:blipFill>
          <a:blip r:embed="rId2"/>
          <a:stretch>
            <a:fillRect/>
          </a:stretch>
        </p:blipFill>
        <p:spPr>
          <a:xfrm>
            <a:off x="0" y="515470"/>
            <a:ext cx="12192000" cy="5827059"/>
          </a:xfrm>
          <a:prstGeom prst="rect">
            <a:avLst/>
          </a:prstGeom>
        </p:spPr>
      </p:pic>
    </p:spTree>
    <p:extLst>
      <p:ext uri="{BB962C8B-B14F-4D97-AF65-F5344CB8AC3E}">
        <p14:creationId xmlns:p14="http://schemas.microsoft.com/office/powerpoint/2010/main" val="3871492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17C820-EF8A-1704-9ABB-283373BFE37B}"/>
              </a:ext>
            </a:extLst>
          </p:cNvPr>
          <p:cNvPicPr>
            <a:picLocks noChangeAspect="1"/>
          </p:cNvPicPr>
          <p:nvPr/>
        </p:nvPicPr>
        <p:blipFill>
          <a:blip r:embed="rId2"/>
          <a:stretch>
            <a:fillRect/>
          </a:stretch>
        </p:blipFill>
        <p:spPr>
          <a:xfrm>
            <a:off x="0" y="505343"/>
            <a:ext cx="12192000" cy="5847314"/>
          </a:xfrm>
          <a:prstGeom prst="rect">
            <a:avLst/>
          </a:prstGeom>
        </p:spPr>
      </p:pic>
    </p:spTree>
    <p:extLst>
      <p:ext uri="{BB962C8B-B14F-4D97-AF65-F5344CB8AC3E}">
        <p14:creationId xmlns:p14="http://schemas.microsoft.com/office/powerpoint/2010/main" val="2842365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FBFD93-F49B-A885-291D-493AE564DCCE}"/>
              </a:ext>
            </a:extLst>
          </p:cNvPr>
          <p:cNvPicPr>
            <a:picLocks noChangeAspect="1"/>
          </p:cNvPicPr>
          <p:nvPr/>
        </p:nvPicPr>
        <p:blipFill>
          <a:blip r:embed="rId2"/>
          <a:stretch>
            <a:fillRect/>
          </a:stretch>
        </p:blipFill>
        <p:spPr>
          <a:xfrm>
            <a:off x="0" y="535228"/>
            <a:ext cx="12192000" cy="5787543"/>
          </a:xfrm>
          <a:prstGeom prst="rect">
            <a:avLst/>
          </a:prstGeom>
        </p:spPr>
      </p:pic>
    </p:spTree>
    <p:extLst>
      <p:ext uri="{BB962C8B-B14F-4D97-AF65-F5344CB8AC3E}">
        <p14:creationId xmlns:p14="http://schemas.microsoft.com/office/powerpoint/2010/main" val="177853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D3CB3-CCA8-1715-6E8E-9ADAF3A7D48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6D80EE-087C-2E7D-6F69-72CD573D7728}"/>
              </a:ext>
            </a:extLst>
          </p:cNvPr>
          <p:cNvPicPr>
            <a:picLocks noChangeAspect="1"/>
          </p:cNvPicPr>
          <p:nvPr/>
        </p:nvPicPr>
        <p:blipFill>
          <a:blip r:embed="rId2"/>
          <a:stretch>
            <a:fillRect/>
          </a:stretch>
        </p:blipFill>
        <p:spPr>
          <a:xfrm>
            <a:off x="0" y="532048"/>
            <a:ext cx="12192000" cy="5793903"/>
          </a:xfrm>
          <a:prstGeom prst="rect">
            <a:avLst/>
          </a:prstGeom>
        </p:spPr>
      </p:pic>
    </p:spTree>
    <p:extLst>
      <p:ext uri="{BB962C8B-B14F-4D97-AF65-F5344CB8AC3E}">
        <p14:creationId xmlns:p14="http://schemas.microsoft.com/office/powerpoint/2010/main" val="2232137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5CFEC-A99D-C1CA-7220-C3BAC5FCBA39}"/>
              </a:ext>
            </a:extLst>
          </p:cNvPr>
          <p:cNvPicPr>
            <a:picLocks noChangeAspect="1"/>
          </p:cNvPicPr>
          <p:nvPr/>
        </p:nvPicPr>
        <p:blipFill>
          <a:blip r:embed="rId2"/>
          <a:stretch>
            <a:fillRect/>
          </a:stretch>
        </p:blipFill>
        <p:spPr>
          <a:xfrm>
            <a:off x="3259015" y="0"/>
            <a:ext cx="5431691" cy="6858000"/>
          </a:xfrm>
          <a:prstGeom prst="rect">
            <a:avLst/>
          </a:prstGeom>
        </p:spPr>
      </p:pic>
    </p:spTree>
    <p:extLst>
      <p:ext uri="{BB962C8B-B14F-4D97-AF65-F5344CB8AC3E}">
        <p14:creationId xmlns:p14="http://schemas.microsoft.com/office/powerpoint/2010/main" val="130753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22110F-9F8F-1B7B-99FE-E0501CBB351E}"/>
              </a:ext>
            </a:extLst>
          </p:cNvPr>
          <p:cNvPicPr>
            <a:picLocks noChangeAspect="1"/>
          </p:cNvPicPr>
          <p:nvPr/>
        </p:nvPicPr>
        <p:blipFill>
          <a:blip r:embed="rId2"/>
          <a:stretch>
            <a:fillRect/>
          </a:stretch>
        </p:blipFill>
        <p:spPr>
          <a:xfrm>
            <a:off x="4191776" y="0"/>
            <a:ext cx="3808448" cy="6858000"/>
          </a:xfrm>
          <a:prstGeom prst="rect">
            <a:avLst/>
          </a:prstGeom>
        </p:spPr>
      </p:pic>
    </p:spTree>
    <p:extLst>
      <p:ext uri="{BB962C8B-B14F-4D97-AF65-F5344CB8AC3E}">
        <p14:creationId xmlns:p14="http://schemas.microsoft.com/office/powerpoint/2010/main" val="3525065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C54A2E-696C-E8F2-070D-B4D5F53D6E94}"/>
              </a:ext>
            </a:extLst>
          </p:cNvPr>
          <p:cNvPicPr>
            <a:picLocks noChangeAspect="1"/>
          </p:cNvPicPr>
          <p:nvPr/>
        </p:nvPicPr>
        <p:blipFill>
          <a:blip r:embed="rId2"/>
          <a:stretch>
            <a:fillRect/>
          </a:stretch>
        </p:blipFill>
        <p:spPr>
          <a:xfrm>
            <a:off x="0" y="532048"/>
            <a:ext cx="12192000" cy="5793903"/>
          </a:xfrm>
          <a:prstGeom prst="rect">
            <a:avLst/>
          </a:prstGeom>
        </p:spPr>
      </p:pic>
    </p:spTree>
    <p:extLst>
      <p:ext uri="{BB962C8B-B14F-4D97-AF65-F5344CB8AC3E}">
        <p14:creationId xmlns:p14="http://schemas.microsoft.com/office/powerpoint/2010/main" val="1776386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C5D2AA-BAE7-E4DE-1A26-4CB9309371FF}"/>
              </a:ext>
            </a:extLst>
          </p:cNvPr>
          <p:cNvPicPr>
            <a:picLocks noChangeAspect="1"/>
          </p:cNvPicPr>
          <p:nvPr/>
        </p:nvPicPr>
        <p:blipFill>
          <a:blip r:embed="rId2"/>
          <a:stretch>
            <a:fillRect/>
          </a:stretch>
        </p:blipFill>
        <p:spPr>
          <a:xfrm>
            <a:off x="0" y="536900"/>
            <a:ext cx="12192000" cy="5784200"/>
          </a:xfrm>
          <a:prstGeom prst="rect">
            <a:avLst/>
          </a:prstGeom>
        </p:spPr>
      </p:pic>
    </p:spTree>
    <p:extLst>
      <p:ext uri="{BB962C8B-B14F-4D97-AF65-F5344CB8AC3E}">
        <p14:creationId xmlns:p14="http://schemas.microsoft.com/office/powerpoint/2010/main" val="996012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DA02-9595-D8AE-4F28-854164E73F2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224BD68-C32F-D351-49D4-1250A3823798}"/>
              </a:ext>
            </a:extLst>
          </p:cNvPr>
          <p:cNvPicPr>
            <a:picLocks noChangeAspect="1"/>
          </p:cNvPicPr>
          <p:nvPr/>
        </p:nvPicPr>
        <p:blipFill>
          <a:blip r:embed="rId2"/>
          <a:stretch>
            <a:fillRect/>
          </a:stretch>
        </p:blipFill>
        <p:spPr>
          <a:xfrm>
            <a:off x="0" y="539915"/>
            <a:ext cx="12192000" cy="5778169"/>
          </a:xfrm>
          <a:prstGeom prst="rect">
            <a:avLst/>
          </a:prstGeom>
        </p:spPr>
      </p:pic>
    </p:spTree>
    <p:extLst>
      <p:ext uri="{BB962C8B-B14F-4D97-AF65-F5344CB8AC3E}">
        <p14:creationId xmlns:p14="http://schemas.microsoft.com/office/powerpoint/2010/main" val="1779031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
            <a:ext cx="9144000" cy="640080"/>
          </a:xfrm>
          <a:prstGeom prst="rect">
            <a:avLst/>
          </a:prstGeom>
          <a:noFill/>
        </p:spPr>
        <p:txBody>
          <a:bodyPr wrap="square">
            <a:spAutoFit/>
          </a:bodyPr>
          <a:lstStyle/>
          <a:p>
            <a:pPr algn="l">
              <a:spcAft>
                <a:spcPts val="0"/>
              </a:spcAft>
              <a:defRPr sz="2600" b="1">
                <a:solidFill>
                  <a:srgbClr val="FFFFFF"/>
                </a:solidFill>
                <a:latin typeface="Calibri"/>
              </a:defRPr>
            </a:pPr>
            <a:r>
              <a:t>Conclusion &amp; Future Scope</a:t>
            </a:r>
          </a:p>
        </p:txBody>
      </p:sp>
      <p:sp>
        <p:nvSpPr>
          <p:cNvPr id="5" name="Rectangle 4"/>
          <p:cNvSpPr/>
          <p:nvPr/>
        </p:nvSpPr>
        <p:spPr>
          <a:xfrm>
            <a:off x="548640" y="1280160"/>
            <a:ext cx="5303520" cy="384048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17320"/>
            <a:ext cx="4572000" cy="365760"/>
          </a:xfrm>
          <a:prstGeom prst="rect">
            <a:avLst/>
          </a:prstGeom>
          <a:noFill/>
        </p:spPr>
        <p:txBody>
          <a:bodyPr wrap="square">
            <a:spAutoFit/>
          </a:bodyPr>
          <a:lstStyle/>
          <a:p>
            <a:pPr algn="l">
              <a:spcAft>
                <a:spcPts val="0"/>
              </a:spcAft>
              <a:defRPr sz="2000" b="1">
                <a:solidFill>
                  <a:srgbClr val="1E3A8A"/>
                </a:solidFill>
                <a:latin typeface="Calibri"/>
              </a:defRPr>
            </a:pPr>
            <a:r>
              <a:t>Conclusion</a:t>
            </a:r>
          </a:p>
        </p:txBody>
      </p:sp>
      <p:sp>
        <p:nvSpPr>
          <p:cNvPr id="7" name="TextBox 6"/>
          <p:cNvSpPr txBox="1"/>
          <p:nvPr/>
        </p:nvSpPr>
        <p:spPr>
          <a:xfrm>
            <a:off x="822960" y="1920240"/>
            <a:ext cx="4754880" cy="2926080"/>
          </a:xfrm>
          <a:prstGeom prst="rect">
            <a:avLst/>
          </a:prstGeom>
          <a:noFill/>
        </p:spPr>
        <p:txBody>
          <a:bodyPr wrap="square">
            <a:spAutoFit/>
          </a:bodyPr>
          <a:lstStyle/>
          <a:p>
            <a:pPr>
              <a:spcBef>
                <a:spcPts val="600"/>
              </a:spcBef>
              <a:spcAft>
                <a:spcPts val="400"/>
              </a:spcAft>
            </a:pPr>
            <a:r>
              <a:rPr sz="1400">
                <a:solidFill>
                  <a:srgbClr val="1E293B"/>
                </a:solidFill>
                <a:latin typeface="Calibri"/>
              </a:rPr>
              <a:t>▸  TradeWise brings transparency to India's social trading ecosystem</a:t>
            </a:r>
          </a:p>
          <a:p>
            <a:pPr>
              <a:spcBef>
                <a:spcPts val="600"/>
              </a:spcBef>
              <a:spcAft>
                <a:spcPts val="400"/>
              </a:spcAft>
            </a:pPr>
            <a:r>
              <a:rPr sz="1400">
                <a:solidFill>
                  <a:srgbClr val="1E293B"/>
                </a:solidFill>
                <a:latin typeface="Calibri"/>
              </a:rPr>
              <a:t>▸  The </a:t>
            </a:r>
            <a:r>
              <a:rPr sz="1400" b="1">
                <a:solidFill>
                  <a:srgbClr val="3B82F6"/>
                </a:solidFill>
                <a:latin typeface="Calibri"/>
              </a:rPr>
              <a:t>Accuracy Engine</a:t>
            </a:r>
            <a:r>
              <a:rPr sz="1400">
                <a:solidFill>
                  <a:srgbClr val="1E293B"/>
                </a:solidFill>
                <a:latin typeface="Calibri"/>
              </a:rPr>
              <a:t> ensures accountability for mentors</a:t>
            </a:r>
          </a:p>
          <a:p>
            <a:pPr>
              <a:spcBef>
                <a:spcPts val="600"/>
              </a:spcBef>
              <a:spcAft>
                <a:spcPts val="400"/>
              </a:spcAft>
            </a:pPr>
            <a:r>
              <a:rPr sz="1400">
                <a:solidFill>
                  <a:srgbClr val="1E293B"/>
                </a:solidFill>
                <a:latin typeface="Calibri"/>
              </a:rPr>
              <a:t>▸  Learners get </a:t>
            </a:r>
            <a:r>
              <a:rPr sz="1400" b="1">
                <a:solidFill>
                  <a:srgbClr val="3B82F6"/>
                </a:solidFill>
                <a:latin typeface="Calibri"/>
              </a:rPr>
              <a:t>verified</a:t>
            </a:r>
            <a:r>
              <a:rPr sz="1400">
                <a:solidFill>
                  <a:srgbClr val="1E293B"/>
                </a:solidFill>
                <a:latin typeface="Calibri"/>
              </a:rPr>
              <a:t>, data-backed trading ideas</a:t>
            </a:r>
          </a:p>
          <a:p>
            <a:pPr>
              <a:spcBef>
                <a:spcPts val="600"/>
              </a:spcBef>
              <a:spcAft>
                <a:spcPts val="400"/>
              </a:spcAft>
            </a:pPr>
            <a:r>
              <a:rPr sz="1400">
                <a:solidFill>
                  <a:srgbClr val="1E293B"/>
                </a:solidFill>
                <a:latin typeface="Calibri"/>
              </a:rPr>
              <a:t>▸  </a:t>
            </a:r>
            <a:r>
              <a:rPr sz="1400" b="1">
                <a:solidFill>
                  <a:srgbClr val="3B82F6"/>
                </a:solidFill>
                <a:latin typeface="Calibri"/>
              </a:rPr>
              <a:t>Structured</a:t>
            </a:r>
            <a:r>
              <a:rPr sz="1400">
                <a:solidFill>
                  <a:srgbClr val="1E293B"/>
                </a:solidFill>
                <a:latin typeface="Calibri"/>
              </a:rPr>
              <a:t> submissions eliminate low-effort, fake signals</a:t>
            </a:r>
          </a:p>
          <a:p>
            <a:pPr>
              <a:spcBef>
                <a:spcPts val="600"/>
              </a:spcBef>
              <a:spcAft>
                <a:spcPts val="400"/>
              </a:spcAft>
            </a:pPr>
            <a:r>
              <a:rPr sz="1400">
                <a:solidFill>
                  <a:srgbClr val="1E293B"/>
                </a:solidFill>
                <a:latin typeface="Calibri"/>
              </a:rPr>
              <a:t>▸  The platform bridges the trust gap between traders and </a:t>
            </a:r>
            <a:r>
              <a:rPr sz="1400" b="1">
                <a:solidFill>
                  <a:srgbClr val="3B82F6"/>
                </a:solidFill>
                <a:latin typeface="Calibri"/>
              </a:rPr>
              <a:t>learner</a:t>
            </a:r>
            <a:r>
              <a:rPr sz="1400">
                <a:solidFill>
                  <a:srgbClr val="1E293B"/>
                </a:solidFill>
                <a:latin typeface="Calibri"/>
              </a:rPr>
              <a:t>s</a:t>
            </a:r>
          </a:p>
        </p:txBody>
      </p:sp>
      <p:sp>
        <p:nvSpPr>
          <p:cNvPr id="8" name="Rectangle 7"/>
          <p:cNvSpPr/>
          <p:nvPr/>
        </p:nvSpPr>
        <p:spPr>
          <a:xfrm>
            <a:off x="6217920" y="1280160"/>
            <a:ext cx="5303520" cy="384048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417320"/>
            <a:ext cx="4572000" cy="365760"/>
          </a:xfrm>
          <a:prstGeom prst="rect">
            <a:avLst/>
          </a:prstGeom>
          <a:noFill/>
        </p:spPr>
        <p:txBody>
          <a:bodyPr wrap="square">
            <a:spAutoFit/>
          </a:bodyPr>
          <a:lstStyle/>
          <a:p>
            <a:pPr algn="l">
              <a:spcAft>
                <a:spcPts val="0"/>
              </a:spcAft>
              <a:defRPr sz="2000" b="1">
                <a:solidFill>
                  <a:srgbClr val="92400E"/>
                </a:solidFill>
                <a:latin typeface="Calibri"/>
              </a:defRPr>
            </a:pPr>
            <a:r>
              <a:t>Future Scope</a:t>
            </a:r>
          </a:p>
        </p:txBody>
      </p:sp>
      <p:sp>
        <p:nvSpPr>
          <p:cNvPr id="10" name="TextBox 9"/>
          <p:cNvSpPr txBox="1"/>
          <p:nvPr/>
        </p:nvSpPr>
        <p:spPr>
          <a:xfrm>
            <a:off x="6492240" y="1920240"/>
            <a:ext cx="4754880" cy="2926080"/>
          </a:xfrm>
          <a:prstGeom prst="rect">
            <a:avLst/>
          </a:prstGeom>
          <a:noFill/>
        </p:spPr>
        <p:txBody>
          <a:bodyPr wrap="square">
            <a:spAutoFit/>
          </a:bodyPr>
          <a:lstStyle/>
          <a:p>
            <a:pPr>
              <a:spcBef>
                <a:spcPts val="600"/>
              </a:spcBef>
              <a:spcAft>
                <a:spcPts val="400"/>
              </a:spcAft>
            </a:pPr>
            <a:r>
              <a:rPr sz="1400">
                <a:solidFill>
                  <a:srgbClr val="44403C"/>
                </a:solidFill>
                <a:latin typeface="Calibri"/>
              </a:rPr>
              <a:t>▸  </a:t>
            </a:r>
            <a:r>
              <a:rPr sz="1400" b="1">
                <a:solidFill>
                  <a:srgbClr val="3B82F6"/>
                </a:solidFill>
                <a:latin typeface="Calibri"/>
              </a:rPr>
              <a:t>AI-based</a:t>
            </a:r>
            <a:r>
              <a:rPr sz="1400">
                <a:solidFill>
                  <a:srgbClr val="44403C"/>
                </a:solidFill>
                <a:latin typeface="Calibri"/>
              </a:rPr>
              <a:t> trade validation &amp; pattern recognition</a:t>
            </a:r>
          </a:p>
          <a:p>
            <a:pPr>
              <a:spcBef>
                <a:spcPts val="600"/>
              </a:spcBef>
              <a:spcAft>
                <a:spcPts val="400"/>
              </a:spcAft>
            </a:pPr>
            <a:r>
              <a:rPr sz="1400">
                <a:solidFill>
                  <a:srgbClr val="44403C"/>
                </a:solidFill>
                <a:latin typeface="Calibri"/>
              </a:rPr>
              <a:t>▸  Android / iOS mobile application</a:t>
            </a:r>
          </a:p>
          <a:p>
            <a:pPr>
              <a:spcBef>
                <a:spcPts val="600"/>
              </a:spcBef>
              <a:spcAft>
                <a:spcPts val="400"/>
              </a:spcAft>
            </a:pPr>
            <a:r>
              <a:rPr sz="1400">
                <a:solidFill>
                  <a:srgbClr val="44403C"/>
                </a:solidFill>
                <a:latin typeface="Calibri"/>
              </a:rPr>
              <a:t>▸  </a:t>
            </a:r>
            <a:r>
              <a:rPr sz="1400" b="1">
                <a:solidFill>
                  <a:srgbClr val="3B82F6"/>
                </a:solidFill>
                <a:latin typeface="Calibri"/>
              </a:rPr>
              <a:t>Real-time</a:t>
            </a:r>
            <a:r>
              <a:rPr sz="1400">
                <a:solidFill>
                  <a:srgbClr val="44403C"/>
                </a:solidFill>
                <a:latin typeface="Calibri"/>
              </a:rPr>
              <a:t> price alerts &amp; push notifications</a:t>
            </a:r>
          </a:p>
          <a:p>
            <a:pPr>
              <a:spcBef>
                <a:spcPts val="600"/>
              </a:spcBef>
              <a:spcAft>
                <a:spcPts val="400"/>
              </a:spcAft>
            </a:pPr>
            <a:r>
              <a:rPr sz="1400">
                <a:solidFill>
                  <a:srgbClr val="44403C"/>
                </a:solidFill>
                <a:latin typeface="Calibri"/>
              </a:rPr>
              <a:t>▸  Advanced analytics with ML-powered insights</a:t>
            </a:r>
          </a:p>
          <a:p>
            <a:pPr>
              <a:spcBef>
                <a:spcPts val="600"/>
              </a:spcBef>
              <a:spcAft>
                <a:spcPts val="400"/>
              </a:spcAft>
            </a:pPr>
            <a:r>
              <a:rPr sz="1400">
                <a:solidFill>
                  <a:srgbClr val="44403C"/>
                </a:solidFill>
                <a:latin typeface="Calibri"/>
              </a:rPr>
              <a:t>▸  Multi-market support (Crypto, Commodities, Forex)</a:t>
            </a:r>
          </a:p>
        </p:txBody>
      </p:sp>
      <p:sp>
        <p:nvSpPr>
          <p:cNvPr id="11" name="TextBox 10"/>
          <p:cNvSpPr txBox="1"/>
          <p:nvPr/>
        </p:nvSpPr>
        <p:spPr>
          <a:xfrm>
            <a:off x="0" y="5669280"/>
            <a:ext cx="12191695" cy="548640"/>
          </a:xfrm>
          <a:prstGeom prst="rect">
            <a:avLst/>
          </a:prstGeom>
          <a:noFill/>
        </p:spPr>
        <p:txBody>
          <a:bodyPr wrap="square">
            <a:spAutoFit/>
          </a:bodyPr>
          <a:lstStyle/>
          <a:p>
            <a:pPr algn="ctr">
              <a:spcAft>
                <a:spcPts val="0"/>
              </a:spcAft>
              <a:defRPr sz="2200" b="1">
                <a:solidFill>
                  <a:srgbClr val="1E3A8A"/>
                </a:solidFill>
                <a:latin typeface="Calibri"/>
              </a:defRPr>
            </a:pPr>
            <a:r>
              <a:t>Thank You!  |  Questions?</a:t>
            </a:r>
          </a:p>
        </p:txBody>
      </p:sp>
      <p:sp>
        <p:nvSpPr>
          <p:cNvPr id="12" name="Rectangle 11"/>
          <p:cNvSpPr/>
          <p:nvPr/>
        </p:nvSpPr>
        <p:spPr>
          <a:xfrm>
            <a:off x="0" y="6492240"/>
            <a:ext cx="121916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510528"/>
            <a:ext cx="10972800" cy="320040"/>
          </a:xfrm>
          <a:prstGeom prst="rect">
            <a:avLst/>
          </a:prstGeom>
          <a:noFill/>
        </p:spPr>
        <p:txBody>
          <a:bodyPr wrap="square">
            <a:spAutoFit/>
          </a:bodyPr>
          <a:lstStyle/>
          <a:p>
            <a:pPr algn="ctr">
              <a:spcAft>
                <a:spcPts val="0"/>
              </a:spcAft>
              <a:defRPr sz="900" b="0">
                <a:solidFill>
                  <a:srgbClr val="64748B"/>
                </a:solidFill>
                <a:latin typeface="Calibri"/>
              </a:defRPr>
            </a:pPr>
            <a:r>
              <a:t>TradeWise  |  Verified Trading, Not Guesswork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2632</Words>
  <Application>Microsoft Office PowerPoint</Application>
  <PresentationFormat>Widescreen</PresentationFormat>
  <Paragraphs>195</Paragraphs>
  <Slides>18</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YASHVEER B</cp:lastModifiedBy>
  <cp:revision>8</cp:revision>
  <dcterms:created xsi:type="dcterms:W3CDTF">2013-01-27T09:14:16Z</dcterms:created>
  <dcterms:modified xsi:type="dcterms:W3CDTF">2026-04-30T07:19:03Z</dcterms:modified>
  <cp:category/>
</cp:coreProperties>
</file>